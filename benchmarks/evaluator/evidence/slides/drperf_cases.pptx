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Eight FTL cases, nine vLLM cases, and four Wan cases. vLLM A and B each have two measured third beats, so each gets two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derive gives an affine model, unexplained share and per-function attribution. learn gives relations between regions that held at every trigger.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Measured means the third beat was run in an experiment copy or branch. Predicted means the first two beats exist and the expected coefficient is stated.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line is a measured third beat from the current CASES.md. Lazy request hashes move work out of admission rather than removing it; rotary apply is the case where instructions and wall time disagree.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useful result is a deletion from the optimisation list. The learned relation lets the cost be sized from commits and frees without another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formula sizes the full-context saving at about 140k instructions, an order of magnitude below the old estimate, and identifies two additional call sites.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five superblocks the pre-rewrite clone can look cheaper; at production it is eight times worse. The fit itself needed repeated exact points and one code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formulas reverse the old priority order: count first, plan_load second, admission not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forty-line analogue explains why B-tree node fill and hash-table doubling belong in the trace when callers cannot declare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flat production state can still be the state that squares. This was invisible because callers opened their regions after the getter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residue is bounded slab-index growth. A future driver should free and refill to measure find_run over a fragmented free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outer invalidate region originally derived 0*digests because its nested region did not declare digests; this becomes the first tool caveat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matching 256k drop in execute_model is the composition identity: the fixed work was truly removed, not reassigned.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64 running requests, 328k → 122k per step; the consumer formula remains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np.asarray and all(map(...)) lost in measurement; only array("L") beat the status quo.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improves time-to-first-schedule, not total instructions: schedule's increase matches admission's decrease.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plausible conversion candidates were measured; most were regressions.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high after-percentage is the remaining cache branch inside a region now one tenth the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negative constant and 53% residue were the warnings. A lazy text join was also measured and rejected, as the original formula predicted.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conservation relation is exact at 504/504 attention calls: resident KV = admitted + generated - freed.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64 running with KV full: about 123k saved per step by the memo plus about 110k per preemption.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64×1,000, scan 2.13M → 0.88M and gather 436k → 222k per step; the 67.6G forward still dominates.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result states when it matters: at 64 requests with eight asking, 56×1.18M instructions disappear per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VAE rising per-frame total was mostly first-chunk amortisation, not cat; a production-width micro-measurement kept the cat fix on different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rotary result is the deck's explicit reminder that instructions are not elapsed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55 probes also removed repeated timestep/modulation work, fp32 upcasts, Dropout(p=0), rotary slices and identity type_as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Cross-attention keys cannot be shortened without changing the model: it was trained attending to its padding.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rows whose after measurement is under 20% are shown. update_from_output improved in one regime but remained 34.8% in saturation, so it is omitted from this success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remedy is segmentation or a tool change, not inventing another correlated state. process_outputs also remains at 25% because the necessary state signature exceeds four integers.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high unexplained share is first evidence about how the region was exercised, and only then about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Additional notes in CASES.md cover marker-free predict comparisons, fast-path mis-pairing, periodic states, the 128-point cap, and OpenMP own-thread spin.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Cells are rendered verbatim from the summary table at the top of CASES.md. Measured means the third beat was run; predicted means only the first two beats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Cells are rendered verbatim from the summary table at the top of CASES.md. Measured means the third beat was run; predicted means only the first two beats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Cells are rendered verbatim from the summary table at the top of CASES.md. Measured means the third beat was run; predicted means only the first two beats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Cells are rendered verbatim from the summary table at the top of CASES.md. Measured means the third beat was run; predicted means only the first two beats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56032"/>
            <a:ext cx="1130198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4161A"/>
                </a:solidFill>
                <a:latin typeface="Aptos Display"/>
              </a:defRPr>
            </a:pPr>
            <a:r>
              <a:t>drperf: cost functions and relations, twenty-one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859536"/>
            <a:ext cx="11301984" cy="2286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42415"/>
            <a:ext cx="54864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Per-region affine instruction-count models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Every coefficient attributed to functions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Exact relations learned between region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51560"/>
            <a:ext cx="5532120" cy="5230368"/>
          </a:xfrm>
          <a:prstGeom prst="rect">
            <a:avLst/>
          </a:prstGeom>
          <a:solidFill>
            <a:srgbClr val="F2F4F7"/>
          </a:solidFill>
          <a:ln>
            <a:solidFill>
              <a:srgbClr val="D8DCE3"/>
            </a:solidFill>
          </a:ln>
        </p:spPr>
        <p:txBody>
          <a:bodyPr wrap="square" anchor="t">
            <a:spAutoFit/>
          </a:bodyPr>
          <a:lstStyle/>
          <a:p>
            <a:pPr algn="l">
              <a:defRPr sz="1300">
                <a:solidFill>
                  <a:srgbClr val="14161A"/>
                </a:solidFill>
                <a:latin typeface="DejaVu Sans Mono"/>
              </a:defRPr>
            </a:pPr>
            <a:r>
              <a:t>cost(state) = coefficient*state + constant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A5360"/>
                </a:solidFill>
                <a:latin typeface="DejaVu Sans Mono"/>
              </a:defRPr>
            </a:pPr>
            <a:r>
              <a:t>1 / 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56032"/>
            <a:ext cx="1130198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61A"/>
                </a:solidFill>
                <a:latin typeface="Aptos Display"/>
              </a:defRPr>
            </a:pPr>
            <a:r>
              <a:t>What drperf outputs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859536"/>
            <a:ext cx="11301984" cy="2286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42415"/>
            <a:ext cx="54864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An affine cost function per marked region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Per-function attribution for every term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Exact relations between independently marked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51560"/>
            <a:ext cx="5532120" cy="5230368"/>
          </a:xfrm>
          <a:prstGeom prst="rect">
            <a:avLst/>
          </a:prstGeom>
          <a:solidFill>
            <a:srgbClr val="F2F4F7"/>
          </a:solidFill>
          <a:ln>
            <a:solidFill>
              <a:srgbClr val="D8DCE3"/>
            </a:solidFill>
          </a:ln>
        </p:spPr>
        <p:txBody>
          <a:bodyPr wrap="square" anchor="t">
            <a:spAutoFit/>
          </a:bodyPr>
          <a:lstStyle/>
          <a:p>
            <a:pPr algn="l">
              <a:defRPr sz="1300">
                <a:solidFill>
                  <a:srgbClr val="14161A"/>
                </a:solidFill>
                <a:latin typeface="DejaVu Sans Mono"/>
              </a:defRPr>
            </a:pPr>
            <a:r>
              <a:t>cost(superblocks) = 23.3*superblocks + 3,330.7</a:t>
            </a:r>
            <a:br/>
            <a:br/>
            <a:r>
              <a:t>attention.kv_tokens = admitted + generated - freed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A5360"/>
                </a:solidFill>
                <a:latin typeface="DejaVu Sans Mono"/>
              </a:defRPr>
            </a:pPr>
            <a:r>
              <a:t>2 / 35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56032"/>
            <a:ext cx="1130198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61A"/>
                </a:solidFill>
                <a:latin typeface="Aptos Display"/>
              </a:defRPr>
            </a:pPr>
            <a:r>
              <a:t>The three-beat method: fit, surprise, optimise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859536"/>
            <a:ext cx="11301984" cy="2286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42415"/>
            <a:ext cx="54864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FIT — declare states and drive a reliable affine model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SURPRISE — follow the unwanted term into its functions and source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OPTIMISE — rerun before/after and watch that term move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51560"/>
            <a:ext cx="5532120" cy="5230368"/>
          </a:xfrm>
          <a:prstGeom prst="rect">
            <a:avLst/>
          </a:prstGeom>
          <a:solidFill>
            <a:srgbClr val="F2F4F7"/>
          </a:solidFill>
          <a:ln>
            <a:solidFill>
              <a:srgbClr val="D8DCE3"/>
            </a:solidFill>
          </a:ln>
        </p:spPr>
        <p:txBody>
          <a:bodyPr wrap="square" anchor="t">
            <a:spAutoFit/>
          </a:bodyPr>
          <a:lstStyle/>
          <a:p>
            <a:pPr algn="l">
              <a:defRPr sz="1300">
                <a:solidFill>
                  <a:srgbClr val="14161A"/>
                </a:solidFill>
                <a:latin typeface="DejaVu Sans Mono"/>
              </a:defRPr>
            </a:pPr>
            <a:r>
              <a:t>pen_tensors       cost(num_reqs, max_len, total_tokens) = 3,299.1*num_reqs - 3*max_len + 309.9*total_tokens + 29,953.4      5.1%</a:t>
            </a:r>
            <a:br/>
            <a:br/>
            <a:r>
              <a:t>309.9*total_tokens  -&gt;  3.0*total_tokens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A5360"/>
                </a:solidFill>
                <a:latin typeface="DejaVu Sans Mono"/>
              </a:defRPr>
            </a:pPr>
            <a:r>
              <a:t>3 / 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56032"/>
            <a:ext cx="1130198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61A"/>
                </a:solidFill>
                <a:latin typeface="Aptos Display"/>
              </a:defRPr>
            </a:pPr>
            <a:r>
              <a:t>Optimisations that worked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859536"/>
            <a:ext cx="11301984" cy="2286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42415"/>
            <a:ext cx="54864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50">
                <a:solidFill>
                  <a:srgbClr val="14161A"/>
                </a:solidFill>
                <a:latin typeface="Aptos"/>
              </a:defRPr>
            </a:pPr>
            <a:r>
              <a:t>FTL — no-clone locate(): 44.9*fill -&gt; 0 at all three sites</a:t>
            </a:r>
          </a:p>
          <a:p>
            <a:pPr>
              <a:spcAft>
                <a:spcPts val="100"/>
              </a:spcAft>
              <a:defRPr sz="850">
                <a:solidFill>
                  <a:srgbClr val="14161A"/>
                </a:solidFill>
                <a:latin typeface="Aptos"/>
              </a:defRPr>
            </a:pPr>
            <a:r>
              <a:t>FTL — hash-keyed superblock map: 377k -&gt; 304k per 32-block bind</a:t>
            </a:r>
          </a:p>
          <a:p>
            <a:pPr>
              <a:spcAft>
                <a:spcPts val="100"/>
              </a:spcAft>
              <a:defRPr sz="850">
                <a:solidFill>
                  <a:srgbClr val="14161A"/>
                </a:solidFill>
                <a:latin typeface="Aptos"/>
              </a:defRPr>
            </a:pPr>
            <a:r>
              <a:t>vLLM — alias-aware _prepare_inputs: constant 464,928 -&gt; 205,310</a:t>
            </a:r>
          </a:p>
          <a:p>
            <a:pPr>
              <a:spcAft>
                <a:spcPts val="100"/>
              </a:spcAft>
              <a:defRPr sz="850">
                <a:solidFill>
                  <a:srgbClr val="14161A"/>
                </a:solidFill>
                <a:latin typeface="Aptos"/>
              </a:defRPr>
            </a:pPr>
            <a:r>
              <a:t>vLLM — cached request data: 4,916 -&gt; 1,671 per running request</a:t>
            </a:r>
          </a:p>
          <a:p>
            <a:pPr>
              <a:spcAft>
                <a:spcPts val="100"/>
              </a:spcAft>
              <a:defRPr sz="850">
                <a:solidFill>
                  <a:srgbClr val="14161A"/>
                </a:solidFill>
                <a:latin typeface="Aptos"/>
              </a:defRPr>
            </a:pPr>
            <a:r>
              <a:t>vLLM — array("L") bounds check: 315.6 -&gt; 109.2 per prompt token</a:t>
            </a:r>
          </a:p>
          <a:p>
            <a:pPr>
              <a:spcAft>
                <a:spcPts val="100"/>
              </a:spcAft>
              <a:defRPr sz="850">
                <a:solidFill>
                  <a:srgbClr val="14161A"/>
                </a:solidFill>
                <a:latin typeface="Aptos"/>
              </a:defRPr>
            </a:pPr>
            <a:r>
              <a:t>vLLM — 7-token detokenizer prime: 544.8 -&gt; 227.5 per prompt token</a:t>
            </a:r>
          </a:p>
          <a:p>
            <a:pPr>
              <a:spcAft>
                <a:spcPts val="100"/>
              </a:spcAft>
              <a:defRPr sz="850">
                <a:solidFill>
                  <a:srgbClr val="14161A"/>
                </a:solidFill>
                <a:latin typeface="Aptos"/>
              </a:defRPr>
            </a:pPr>
            <a:r>
              <a:t>vLLM — lazy request hashes: 254k -&gt; 29k at 662 tokens; moved work</a:t>
            </a:r>
          </a:p>
          <a:p>
            <a:pPr>
              <a:spcAft>
                <a:spcPts val="100"/>
              </a:spcAft>
              <a:defRPr sz="850">
                <a:solidFill>
                  <a:srgbClr val="14161A"/>
                </a:solidFill>
                <a:latin typeface="Aptos"/>
              </a:defRPr>
            </a:pPr>
            <a:r>
              <a:t>vLLM — input row memoryview: 275.2 -&gt; 202.9 per prompt token</a:t>
            </a:r>
          </a:p>
          <a:p>
            <a:pPr>
              <a:spcAft>
                <a:spcPts val="100"/>
              </a:spcAft>
              <a:defRPr sz="850">
                <a:solidFill>
                  <a:srgbClr val="14161A"/>
                </a:solidFill>
                <a:latin typeface="Aptos"/>
              </a:defRPr>
            </a:pPr>
            <a:r>
              <a:t>vLLM — metadata memo: 83,361 -&gt; 44,595 per replacement</a:t>
            </a:r>
          </a:p>
          <a:p>
            <a:pPr>
              <a:spcAft>
                <a:spcPts val="100"/>
              </a:spcAft>
              <a:defRPr sz="850">
                <a:solidFill>
                  <a:srgbClr val="14161A"/>
                </a:solidFill>
                <a:latin typeface="Aptos"/>
              </a:defRPr>
            </a:pPr>
            <a:r>
              <a:t>vLLM — batched condense: 47,366 -&gt; 33,844 per moved row</a:t>
            </a:r>
          </a:p>
          <a:p>
            <a:pPr>
              <a:spcAft>
                <a:spcPts val="100"/>
              </a:spcAft>
              <a:defRPr sz="850">
                <a:solidFill>
                  <a:srgbClr val="14161A"/>
                </a:solidFill>
                <a:latin typeface="Aptos"/>
              </a:defRPr>
            </a:pPr>
            <a:r>
              <a:t>vLLM — penalties tensor cache: 309.9 -&gt; 3.0 per historical token</a:t>
            </a:r>
          </a:p>
          <a:p>
            <a:pPr>
              <a:spcAft>
                <a:spcPts val="100"/>
              </a:spcAft>
              <a:defRPr sz="850">
                <a:solidFill>
                  <a:srgbClr val="14161A"/>
                </a:solidFill>
                <a:latin typeface="Aptos"/>
              </a:defRPr>
            </a:pPr>
            <a:r>
              <a:t>vLLM — skip early-return output call: 8,247.5 -&gt; 6,989.4 per request-step</a:t>
            </a:r>
          </a:p>
          <a:p>
            <a:pPr>
              <a:spcAft>
                <a:spcPts val="100"/>
              </a:spcAft>
              <a:defRPr sz="850">
                <a:solidFill>
                  <a:srgbClr val="14161A"/>
                </a:solidFill>
                <a:latin typeface="Aptos"/>
              </a:defRPr>
            </a:pPr>
            <a:r>
              <a:t>vLLM — prefix-scan memo: 22,800 -&gt; 6,767 at 40 blocks</a:t>
            </a:r>
          </a:p>
          <a:p>
            <a:pPr>
              <a:spcAft>
                <a:spcPts val="100"/>
              </a:spcAft>
              <a:defRPr sz="850">
                <a:solidFill>
                  <a:srgbClr val="14161A"/>
                </a:solidFill>
                <a:latin typeface="Aptos"/>
              </a:defRPr>
            </a:pPr>
            <a:r>
              <a:t>vLLM — remove hasher no-ops: -993 each; -5.9% per block</a:t>
            </a:r>
          </a:p>
          <a:p>
            <a:pPr>
              <a:spcAft>
                <a:spcPts val="100"/>
              </a:spcAft>
              <a:defRPr sz="850">
                <a:solidFill>
                  <a:srgbClr val="14161A"/>
                </a:solidFill>
                <a:latin typeface="Aptos"/>
              </a:defRPr>
            </a:pPr>
            <a:r>
              <a:t>vLLM — scheduler head memo: 23.7M -&gt; 10.3M total, -56.5%</a:t>
            </a:r>
          </a:p>
          <a:p>
            <a:pPr>
              <a:spcAft>
                <a:spcPts val="100"/>
              </a:spcAft>
              <a:defRPr sz="850">
                <a:solidFill>
                  <a:srgbClr val="14161A"/>
                </a:solidFill>
                <a:latin typeface="Aptos"/>
              </a:defRPr>
            </a:pPr>
            <a:r>
              <a:t>vLLM — one-pass preemption: 2,140.5 -&gt; 422.8 per running request</a:t>
            </a:r>
          </a:p>
          <a:p>
            <a:pPr>
              <a:spcAft>
                <a:spcPts val="100"/>
              </a:spcAft>
              <a:defRPr sz="850">
                <a:solidFill>
                  <a:srgbClr val="14161A"/>
                </a:solidFill>
                <a:latin typeface="Aptos"/>
              </a:defRPr>
            </a:pPr>
            <a:r>
              <a:t>vLLM — n-gram first-occurrence index: 22.9 -&gt; 0.9 per context token</a:t>
            </a:r>
          </a:p>
          <a:p>
            <a:pPr>
              <a:spcAft>
                <a:spcPts val="100"/>
              </a:spcAft>
              <a:defRPr sz="850">
                <a:solidFill>
                  <a:srgbClr val="14161A"/>
                </a:solidFill>
                <a:latin typeface="Aptos"/>
              </a:defRPr>
            </a:pPr>
            <a:r>
              <a:t>vLLM — set-based n-gram gather: 436,236 -&gt; 221,638 at 64</a:t>
            </a:r>
          </a:p>
          <a:p>
            <a:pPr>
              <a:spcAft>
                <a:spcPts val="100"/>
              </a:spcAft>
              <a:defRPr sz="850">
                <a:solidFill>
                  <a:srgbClr val="14161A"/>
                </a:solidFill>
                <a:latin typeface="Aptos"/>
              </a:defRPr>
            </a:pPr>
            <a:r>
              <a:t>vLLM — top-k only asking rows: other-thread part -29.1%</a:t>
            </a:r>
          </a:p>
          <a:p>
            <a:pPr>
              <a:spcAft>
                <a:spcPts val="100"/>
              </a:spcAft>
              <a:defRPr sz="850">
                <a:solidFill>
                  <a:srgbClr val="14161A"/>
                </a:solidFill>
                <a:latin typeface="Aptos"/>
              </a:defRPr>
            </a:pPr>
            <a:r>
              <a:t>WAN — rotary table cache: 482,987 -&gt; 58,612 per call</a:t>
            </a:r>
          </a:p>
          <a:p>
            <a:pPr>
              <a:spcAft>
                <a:spcPts val="100"/>
              </a:spcAft>
              <a:defRPr sz="850">
                <a:solidFill>
                  <a:srgbClr val="14161A"/>
                </a:solidFill>
                <a:latin typeface="Aptos"/>
              </a:defRPr>
            </a:pPr>
            <a:r>
              <a:t>WAN — prompt projection cache: cond_embed -27.7%</a:t>
            </a:r>
          </a:p>
          <a:p>
            <a:pPr>
              <a:spcAft>
                <a:spcPts val="100"/>
              </a:spcAft>
              <a:defRPr sz="850">
                <a:solidFill>
                  <a:srgbClr val="14161A"/>
                </a:solidFill>
                <a:latin typeface="Aptos"/>
              </a:defRPr>
            </a:pPr>
            <a:r>
              <a:t>WAN — VAE list-then-cat: 927.5 -&gt; 92.3 ms at production width</a:t>
            </a:r>
          </a:p>
          <a:p>
            <a:pPr>
              <a:spcAft>
                <a:spcPts val="100"/>
              </a:spcAft>
              <a:defRPr sz="850">
                <a:solidFill>
                  <a:srgbClr val="14161A"/>
                </a:solidFill>
                <a:latin typeface="Aptos"/>
              </a:defRPr>
            </a:pPr>
            <a:r>
              <a:t>WAN — lazy VAE posterior: 14.2 -&gt; 0.349 per element</a:t>
            </a:r>
          </a:p>
          <a:p>
            <a:pPr>
              <a:spcAft>
                <a:spcPts val="100"/>
              </a:spcAft>
              <a:defRPr sz="850">
                <a:solidFill>
                  <a:srgbClr val="14161A"/>
                </a:solidFill>
                <a:latin typeface="Aptos"/>
              </a:defRPr>
            </a:pPr>
            <a:r>
              <a:t>WAN — callback locals: 14,019.5 -&gt; 425 per name</a:t>
            </a:r>
          </a:p>
          <a:p>
            <a:pPr>
              <a:spcAft>
                <a:spcPts val="100"/>
              </a:spcAft>
              <a:defRPr sz="850">
                <a:solidFill>
                  <a:srgbClr val="14161A"/>
                </a:solidFill>
                <a:latin typeface="Aptos"/>
              </a:defRPr>
            </a:pPr>
            <a:r>
              <a:t>WAN — rotary apply layout: 5,764.3 -&gt; 5,675.3 per token; wall -25%</a:t>
            </a:r>
          </a:p>
          <a:p>
            <a:pPr>
              <a:spcAft>
                <a:spcPts val="100"/>
              </a:spcAft>
              <a:defRPr sz="850">
                <a:solidFill>
                  <a:srgbClr val="14161A"/>
                </a:solidFill>
                <a:latin typeface="Aptos"/>
              </a:defRPr>
            </a:pPr>
            <a:r>
              <a:t>WAN — cross-attention K/V memo: ax_qkv 378,712 -&gt; 137,932</a:t>
            </a:r>
          </a:p>
          <a:p>
            <a:pPr>
              <a:spcAft>
                <a:spcPts val="100"/>
              </a:spcAft>
              <a:defRPr sz="850">
                <a:solidFill>
                  <a:srgbClr val="14161A"/>
                </a:solidFill>
                <a:latin typeface="Aptos"/>
              </a:defRPr>
            </a:pPr>
            <a:r>
              <a:t>WAN — short-pad T5 encode: 384.8M -&gt; 8.07M at 8 tokens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51560"/>
            <a:ext cx="5532120" cy="5230368"/>
          </a:xfrm>
          <a:prstGeom prst="rect">
            <a:avLst/>
          </a:prstGeom>
          <a:solidFill>
            <a:srgbClr val="F2F4F7"/>
          </a:solidFill>
          <a:ln>
            <a:solidFill>
              <a:srgbClr val="D8DCE3"/>
            </a:solidFill>
          </a:ln>
        </p:spPr>
        <p:txBody>
          <a:bodyPr wrap="square" anchor="t">
            <a:spAutoFit/>
          </a:bodyPr>
          <a:lstStyle/>
          <a:p>
            <a:pPr algn="l">
              <a:defRPr sz="1300">
                <a:solidFill>
                  <a:srgbClr val="14161A"/>
                </a:solidFill>
                <a:latin typeface="DejaVu Sans Mono"/>
              </a:defRPr>
            </a:pPr>
            <a:r>
              <a:t>44.9*fill -&gt; 0 at all three sites</a:t>
            </a:r>
            <a:br/>
            <a:r>
              <a:t>377k -&gt; 304k per 32-block bind</a:t>
            </a:r>
            <a:br/>
            <a:r>
              <a:t>constant 464,928 -&gt; 205,310</a:t>
            </a:r>
            <a:br/>
            <a:r>
              <a:t>4,916 -&gt; 1,671 per running request</a:t>
            </a:r>
            <a:br/>
            <a:r>
              <a:t>315.6 -&gt; 109.2 per prompt token</a:t>
            </a:r>
            <a:br/>
            <a:r>
              <a:t>544.8 -&gt; 227.5 per prompt token</a:t>
            </a:r>
            <a:br/>
            <a:r>
              <a:t>254k -&gt; 29k at 662 tokens; moved work</a:t>
            </a:r>
            <a:br/>
            <a:r>
              <a:t>275.2 -&gt; 202.9 per prompt token</a:t>
            </a:r>
            <a:br/>
            <a:r>
              <a:t>83,361 -&gt; 44,595 per replacement</a:t>
            </a:r>
            <a:br/>
            <a:r>
              <a:t>47,366 -&gt; 33,844 per moved row</a:t>
            </a:r>
            <a:br/>
            <a:r>
              <a:t>309.9 -&gt; 3.0 per historical token</a:t>
            </a:r>
            <a:br/>
            <a:r>
              <a:t>8,247.5 -&gt; 6,989.4 per request-step</a:t>
            </a:r>
            <a:br/>
            <a:r>
              <a:t>22,800 -&gt; 6,767 at 40 blocks</a:t>
            </a:r>
            <a:br/>
            <a:r>
              <a:t>-993 each; -5.9% per block</a:t>
            </a:r>
            <a:br/>
            <a:r>
              <a:t>23.7M -&gt; 10.3M total, -56.5%</a:t>
            </a:r>
            <a:br/>
            <a:r>
              <a:t>2,140.5 -&gt; 422.8 per running request</a:t>
            </a:r>
            <a:br/>
            <a:r>
              <a:t>22.9 -&gt; 0.9 per context token</a:t>
            </a:r>
            <a:br/>
            <a:r>
              <a:t>436,236 -&gt; 221,638 at 64</a:t>
            </a:r>
            <a:br/>
            <a:r>
              <a:t>other-thread part -29.1%</a:t>
            </a:r>
            <a:br/>
            <a:r>
              <a:t>482,987 -&gt; 58,612 per call</a:t>
            </a:r>
            <a:br/>
            <a:r>
              <a:t>cond_embed -27.7%</a:t>
            </a:r>
            <a:br/>
            <a:r>
              <a:t>927.5 -&gt; 92.3 ms at production width</a:t>
            </a:r>
            <a:br/>
            <a:r>
              <a:t>14.2 -&gt; 0.349 per element</a:t>
            </a:r>
            <a:br/>
            <a:r>
              <a:t>14,019.5 -&gt; 425 per name</a:t>
            </a:r>
            <a:br/>
            <a:r>
              <a:t>5,764.3 -&gt; 5,675.3 per token; wall -25%</a:t>
            </a:r>
            <a:br/>
            <a:r>
              <a:t>ax_qkv 378,712 -&gt; 137,932</a:t>
            </a:r>
            <a:br/>
            <a:r>
              <a:t>384.8M -&gt; 8.07M at 8 tokens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A5360"/>
                </a:solidFill>
                <a:latin typeface="DejaVu Sans Mono"/>
              </a:defRPr>
            </a:pPr>
            <a:r>
              <a:t>4 / 35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56032"/>
            <a:ext cx="1130198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61A"/>
                </a:solidFill>
                <a:latin typeface="Aptos Display"/>
              </a:defRPr>
            </a:pPr>
            <a:r>
              <a:t>FTL 1. The admission scan is not the 50 µs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859536"/>
            <a:ext cx="11301984" cy="2286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42415"/>
            <a:ext cx="54864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FIT — superblocks; 2.2% unexplained.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SURPRISE — There is no bad term: 23.3 instructions per resident superblock makes the whole call about 6.2k at 120, while learn identifies resident exactly. vllm-ditto/rust/ditto-ftl-core/src/directory.rs:876 — Directory::stats.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OPTIMISE — Not needed: remove the proposed admission-cache fix from the list; under 14k instructions even at a few hundred superblocks.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51560"/>
            <a:ext cx="5532120" cy="5230368"/>
          </a:xfrm>
          <a:prstGeom prst="rect">
            <a:avLst/>
          </a:prstGeom>
          <a:solidFill>
            <a:srgbClr val="F2F4F7"/>
          </a:solidFill>
          <a:ln>
            <a:solidFill>
              <a:srgbClr val="D8DCE3"/>
            </a:solidFill>
          </a:ln>
        </p:spPr>
        <p:txBody>
          <a:bodyPr wrap="square" anchor="t">
            <a:spAutoFit/>
          </a:bodyPr>
          <a:lstStyle/>
          <a:p>
            <a:pPr algn="l">
              <a:defRPr sz="1300">
                <a:solidFill>
                  <a:srgbClr val="14161A"/>
                </a:solidFill>
                <a:latin typeface="DejaVu Sans Mono"/>
              </a:defRPr>
            </a:pPr>
            <a:r>
              <a:t>vllm-ditto/examples/cases/step_admission.py:43</a:t>
            </a:r>
            <a:br/>
            <a:r>
              <a:t>with region("case_admission_limit", superblocks=resident):</a:t>
            </a:r>
            <a:br/>
            <a:br/>
            <a:r>
              <a:t>  cost(superblocks) = 23.3*superblocks + 3,330.7        [all superblocks]   blocks: 6 affine, 924 constant, 15 irregular (2.2% of cost)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A5360"/>
                </a:solidFill>
                <a:latin typeface="DejaVu Sans Mono"/>
              </a:defRPr>
            </a:pPr>
            <a:r>
              <a:t>5 / 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56032"/>
            <a:ext cx="1130198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4161A"/>
                </a:solidFill>
                <a:latin typeface="Aptos Display"/>
              </a:defRPr>
            </a:pPr>
            <a:r>
              <a:t>FTL 2. Three callers clone a block map to read a key or flags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859536"/>
            <a:ext cx="11301984" cy="2286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42415"/>
            <a:ext cx="54864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FIT — fill; 0.0% unexplained.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SURPRISE — Each lookup pays 44.9 instructions per resident io-block; caller slopes are 4×, 4× and 1×, exposing three clones. vllm-ditto/rust/ditto-ftl-core/src/directory.rs:793 — superblock.clone().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OPTIMISE — Measured: a no-clone locate() makes every fill coefficient exactly zero; digest c4529c2f9fbf6a75 unchanged.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51560"/>
            <a:ext cx="5532120" cy="5230368"/>
          </a:xfrm>
          <a:prstGeom prst="rect">
            <a:avLst/>
          </a:prstGeom>
          <a:solidFill>
            <a:srgbClr val="F2F4F7"/>
          </a:solidFill>
          <a:ln>
            <a:solidFill>
              <a:srgbClr val="D8DCE3"/>
            </a:solidFill>
          </a:ln>
        </p:spPr>
        <p:txBody>
          <a:bodyPr wrap="square" anchor="t">
            <a:spAutoFit/>
          </a:bodyPr>
          <a:lstStyle/>
          <a:p>
            <a:pPr algn="l">
              <a:defRPr sz="1300">
                <a:solidFill>
                  <a:srgbClr val="14161A"/>
                </a:solidFill>
                <a:latin typeface="DejaVu Sans Mono"/>
              </a:defRPr>
            </a:pPr>
            <a:r>
              <a:t>vllm-ditto/examples/cases/lookup_sites.py:46</a:t>
            </a:r>
            <a:br/>
            <a:r>
              <a:t>with region("case_plan_load", fill=fill):</a:t>
            </a:r>
            <a:br/>
            <a:br/>
            <a:r>
              <a:t>  cost(fill) = 44.9*fill + -221.4        [all fill]   blocks: 55 affine, 134 constant, 0 irregular (0.0% of cost)</a:t>
            </a:r>
            <a:br/>
            <a:br/>
            <a:r>
              <a:t>derive case_plan_load            cost(fill) = 167.6*fill + 3,025.1</a:t>
            </a:r>
            <a:br/>
            <a:br/>
            <a:r>
              <a:t>derive case_plan_load            cost(fill) = 0*fill + 877.3        blocks: 0 affine, 1960 constant, 51 irregular (77.9% of cost)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A5360"/>
                </a:solidFill>
                <a:latin typeface="DejaVu Sans Mono"/>
              </a:defRPr>
            </a:pPr>
            <a:r>
              <a:t>6 / 35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56032"/>
            <a:ext cx="1130198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61A"/>
                </a:solidFill>
                <a:latin typeface="Aptos Display"/>
              </a:defRPr>
            </a:pPr>
            <a:r>
              <a:t>FTL 3. Small-scale bind_batch numbers favour the loser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859536"/>
            <a:ext cx="11301984" cy="2286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42415"/>
            <a:ext cx="54864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FIT — requests; 19.5% after four driver repairs unexplained.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SURPRISE — The old core scales with the whole directory; the current one spends about 44% of a bind in string-keyed B-tree search, whose leaf occupancy is internal state. vllm-ditto/rust/ditto-ftl-core/src/directory.rs:152 — the string-keyed search under apply_batch.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OPTIMISE — Measured: change only the map keying; the directory-size climb disappears and mean cost falls 377,313 → 304,471 per 32-block bind.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51560"/>
            <a:ext cx="5532120" cy="5230368"/>
          </a:xfrm>
          <a:prstGeom prst="rect">
            <a:avLst/>
          </a:prstGeom>
          <a:solidFill>
            <a:srgbClr val="F2F4F7"/>
          </a:solidFill>
          <a:ln>
            <a:solidFill>
              <a:srgbClr val="D8DCE3"/>
            </a:solidFill>
          </a:ln>
        </p:spPr>
        <p:txBody>
          <a:bodyPr wrap="square" anchor="t">
            <a:spAutoFit/>
          </a:bodyPr>
          <a:lstStyle/>
          <a:p>
            <a:pPr algn="l">
              <a:defRPr sz="1300">
                <a:solidFill>
                  <a:srgbClr val="14161A"/>
                </a:solidFill>
                <a:latin typeface="DejaVu Sans Mono"/>
              </a:defRPr>
            </a:pPr>
            <a:r>
              <a:t>vllm-ditto/rust/ditto-ftl-core/src/directory.rs:409</a:t>
            </a:r>
            <a:br/>
            <a:r>
              <a:t>"ftl_directory_bind_batch",</a:t>
            </a:r>
            <a:br/>
            <a:br/>
            <a:r>
              <a:t>  cost(requests) = 2,237.6*requests + 3,877.5        [all requests]</a:t>
            </a:r>
            <a:br/>
            <a:br/>
            <a:r>
              <a:t>the 1,371,318 / 377,313 / 304,471 instructions per bind are measured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A5360"/>
                </a:solidFill>
                <a:latin typeface="DejaVu Sans Mono"/>
              </a:defRPr>
            </a:pPr>
            <a:r>
              <a:t>7 / 35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56032"/>
            <a:ext cx="1130198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61A"/>
                </a:solidFill>
                <a:latin typeface="Aptos Display"/>
              </a:defRPr>
            </a:pPr>
            <a:r>
              <a:t>FTL 4. count() round-trips every counter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859536"/>
            <a:ext cx="11301984" cy="2286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42415"/>
            <a:ext cx="54864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FIT — entries; 22.8% unexplained.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SURPRISE — A single counter bump reads and rewrites the whole stats dict: about 58k instructions with roughly 30 counters. vllm-ditto/rust/ditto-ftl-core/src/lib.rs:1016-1021 — PyFTLController::pull_stats / sync_stats.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OPTIMISE — Predicted: keep counters in Rust and materialise the Python dict only on read, removing about 55k per count().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51560"/>
            <a:ext cx="5532120" cy="5230368"/>
          </a:xfrm>
          <a:prstGeom prst="rect">
            <a:avLst/>
          </a:prstGeom>
          <a:solidFill>
            <a:srgbClr val="F2F4F7"/>
          </a:solidFill>
          <a:ln>
            <a:solidFill>
              <a:srgbClr val="D8DCE3"/>
            </a:solidFill>
          </a:ln>
        </p:spPr>
        <p:txBody>
          <a:bodyPr wrap="square" anchor="t">
            <a:spAutoFit/>
          </a:bodyPr>
          <a:lstStyle/>
          <a:p>
            <a:pPr algn="l">
              <a:defRPr sz="1300">
                <a:solidFill>
                  <a:srgbClr val="14161A"/>
                </a:solidFill>
                <a:latin typeface="DejaVu Sans Mono"/>
              </a:defRPr>
            </a:pPr>
            <a:r>
              <a:t>vllm-ditto/examples/cases/count_stats.py:27</a:t>
            </a:r>
            <a:br/>
            <a:r>
              <a:t>with region("case_count", entries=entries):</a:t>
            </a:r>
            <a:br/>
            <a:br/>
            <a:r>
              <a:t>  cost(entries) = 1,896.6*entries + 1,060.1        [all entries]   blocks: 359 affine, 700 constant, 47 irregular (22.8% of cost)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A5360"/>
                </a:solidFill>
                <a:latin typeface="DejaVu Sans Mono"/>
              </a:defRPr>
            </a:pPr>
            <a:r>
              <a:t>8 / 35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56032"/>
            <a:ext cx="1130198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61A"/>
                </a:solidFill>
                <a:latin typeface="Aptos Display"/>
              </a:defRPr>
            </a:pPr>
            <a:r>
              <a:t>FTL 5. Container size is not container state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859536"/>
            <a:ext cx="11301984" cy="2286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42415"/>
            <a:ext cx="54864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FIT — n, size; 10.6% unexplained.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SURPRISE — size has coefficient zero; the residue is a resize step near two-thirds load, not a slope in entries. examples/hashmap_internal.py:41 — the insert region; CPython's table headroom is hidden state.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OPTIMISE — No code change: widen the sweep. The n term holds while the proxy rehash coefficient moves from 5 to 1.7.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51560"/>
            <a:ext cx="5532120" cy="5230368"/>
          </a:xfrm>
          <a:prstGeom prst="rect">
            <a:avLst/>
          </a:prstGeom>
          <a:solidFill>
            <a:srgbClr val="F2F4F7"/>
          </a:solidFill>
          <a:ln>
            <a:solidFill>
              <a:srgbClr val="D8DCE3"/>
            </a:solidFill>
          </a:ln>
        </p:spPr>
        <p:txBody>
          <a:bodyPr wrap="square" anchor="t">
            <a:spAutoFit/>
          </a:bodyPr>
          <a:lstStyle/>
          <a:p>
            <a:pPr algn="l">
              <a:defRPr sz="1300">
                <a:solidFill>
                  <a:srgbClr val="14161A"/>
                </a:solidFill>
                <a:latin typeface="DejaVu Sans Mono"/>
              </a:defRPr>
            </a:pPr>
            <a:r>
              <a:t>examples/hashmap_internal.py:28</a:t>
            </a:r>
            <a:br/>
            <a:r>
              <a:t>with region("hm_lookup", n=n, size=size):</a:t>
            </a:r>
            <a:br/>
            <a:br/>
            <a:r>
              <a:t>hm_insert   cost(n, size) = 1,970.2*n + 0*size + 2,624      10.6% irregular</a:t>
            </a:r>
            <a:br/>
            <a:br/>
            <a:r>
              <a:t>sizes 40..340,  n 8..32:   cost = 2,014.7*n + 5*rehash   + 2,518    6.6% irregular</a:t>
            </a:r>
            <a:br/>
            <a:br/>
            <a:r>
              <a:t>sizes 20..1500, n 4..64:   cost = 1,957.8*n + 1.7*rehash + 1,428   10.5% irregular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A5360"/>
                </a:solidFill>
                <a:latin typeface="DejaVu Sans Mono"/>
              </a:defRPr>
            </a:pPr>
            <a:r>
              <a:t>9 / 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56032"/>
            <a:ext cx="1130198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61A"/>
                </a:solidFill>
                <a:latin typeface="Aptos Display"/>
              </a:defRPr>
            </a:pPr>
            <a:r>
              <a:t>FTL 6. _ordered_blocks hides a quadratic clone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859536"/>
            <a:ext cx="11301984" cy="2286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42415"/>
            <a:ext cx="54864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FIT — nblocks, square=nblocks²; 16.1% unexplained.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SURPRISE — The blocks getter clones and converts the Rust BTreeMap once per offset: 417 instructions per offset×entry for a tuple. vllm-ditto/src/integration/vllm/compaction.py:231 via the pyo3 getter at lib.rs:682.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OPTIMISE — Predicted from the one-getter region: the square coefficient becomes zero; 497k → 54k per call at 32 blocks.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51560"/>
            <a:ext cx="5532120" cy="5230368"/>
          </a:xfrm>
          <a:prstGeom prst="rect">
            <a:avLst/>
          </a:prstGeom>
          <a:solidFill>
            <a:srgbClr val="F2F4F7"/>
          </a:solidFill>
          <a:ln>
            <a:solidFill>
              <a:srgbClr val="D8DCE3"/>
            </a:solidFill>
          </a:ln>
        </p:spPr>
        <p:txBody>
          <a:bodyPr wrap="square" anchor="t">
            <a:spAutoFit/>
          </a:bodyPr>
          <a:lstStyle/>
          <a:p>
            <a:pPr algn="l">
              <a:defRPr sz="1300">
                <a:solidFill>
                  <a:srgbClr val="14161A"/>
                </a:solidFill>
                <a:latin typeface="DejaVu Sans Mono"/>
              </a:defRPr>
            </a:pPr>
            <a:r>
              <a:t>vllm-ditto/examples/cases/ordered_blocks.py:51</a:t>
            </a:r>
            <a:br/>
            <a:r>
              <a:t>with region("case_ordered_blocks", nblocks=n, square=n * n):</a:t>
            </a:r>
            <a:br/>
            <a:br/>
            <a:r>
              <a:t>case_ordered_blocks   cost(nblocks, square) = 2,049.7*nblocks + 416.9*square + 4,942.8    (16.1% irregular)</a:t>
            </a:r>
            <a:br/>
            <a:br/>
            <a:r>
              <a:t>case_ordered_once     cost(nblocks, square) = 1,499.7*nblocks + -0.196*square + 6,363.1   (1.3% irregular)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A5360"/>
                </a:solidFill>
                <a:latin typeface="DejaVu Sans Mono"/>
              </a:defRPr>
            </a:pPr>
            <a:r>
              <a:t>10 / 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56032"/>
            <a:ext cx="1130198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61A"/>
                </a:solidFill>
                <a:latin typeface="Aptos Display"/>
              </a:defRPr>
            </a:pPr>
            <a:r>
              <a:t>FTL 7. ensure_row gets slower as the pool fills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859536"/>
            <a:ext cx="11301984" cy="2286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42415"/>
            <a:ext cx="54864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FIT — full_slabs, new_slab; 35.1% unexplained.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SURPRISE — Every stored row walks the prefix of exhausted slabs; the regression arrives with occupancy, not workload size. vllm-ditto/rust/ditto-ftl-core/src/handle_manager.rs:453 — alloc_row_slot.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OPTIMISE — Predicted: keep only non-full slabs and make the 35.1 coefficient zero; about 540k saved per 32-row store at a full 480-slab pool.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51560"/>
            <a:ext cx="5532120" cy="5230368"/>
          </a:xfrm>
          <a:prstGeom prst="rect">
            <a:avLst/>
          </a:prstGeom>
          <a:solidFill>
            <a:srgbClr val="F2F4F7"/>
          </a:solidFill>
          <a:ln>
            <a:solidFill>
              <a:srgbClr val="D8DCE3"/>
            </a:solidFill>
          </a:ln>
        </p:spPr>
        <p:txBody>
          <a:bodyPr wrap="square" anchor="t">
            <a:spAutoFit/>
          </a:bodyPr>
          <a:lstStyle/>
          <a:p>
            <a:pPr algn="l">
              <a:defRPr sz="1300">
                <a:solidFill>
                  <a:srgbClr val="14161A"/>
                </a:solidFill>
                <a:latin typeface="DejaVu Sans Mono"/>
              </a:defRPr>
            </a:pPr>
            <a:r>
              <a:t>vllm-ditto/examples/cases/ensure_row_slabs.py:40</a:t>
            </a:r>
            <a:br/>
            <a:r>
              <a:t>"case_ensure_row", full_slabs=row // slots, new_slab=int(row % slots == 0)</a:t>
            </a:r>
            <a:br/>
            <a:br/>
            <a:r>
              <a:t>case_ensure_row   cost(full_slabs, new_slab) = 35.1*full_slabs + 381.2*new_slab + 2,397.2   (35.1% irregular, 3 blocks, 272..4,442 per call)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A5360"/>
                </a:solidFill>
                <a:latin typeface="DejaVu Sans Mono"/>
              </a:defRPr>
            </a:pPr>
            <a:r>
              <a:t>11 / 35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56032"/>
            <a:ext cx="1130198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61A"/>
                </a:solidFill>
                <a:latin typeface="Aptos Display"/>
              </a:defRPr>
            </a:pPr>
            <a:r>
              <a:t>FTL 8. _clear_digests scans the table once per retired block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859536"/>
            <a:ext cx="11301984" cy="2286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42415"/>
            <a:ext cx="54864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FIT — digests; 0.0% unexplained.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SURPRISE — The whole digest table is copied and compared per victim: about 1.1M per block and 35M per retired superblock at production size. vllm-ditto/src/integration/vllm/compaction.py:253-258 — _clear_digests from _drop_key.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OPTIMISE — Predicted: maintain a key-to-identities index and make the digests coefficient zero.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51560"/>
            <a:ext cx="5532120" cy="5230368"/>
          </a:xfrm>
          <a:prstGeom prst="rect">
            <a:avLst/>
          </a:prstGeom>
          <a:solidFill>
            <a:srgbClr val="F2F4F7"/>
          </a:solidFill>
          <a:ln>
            <a:solidFill>
              <a:srgbClr val="D8DCE3"/>
            </a:solidFill>
          </a:ln>
        </p:spPr>
        <p:txBody>
          <a:bodyPr wrap="square" anchor="t">
            <a:spAutoFit/>
          </a:bodyPr>
          <a:lstStyle/>
          <a:p>
            <a:pPr algn="l">
              <a:defRPr sz="1300">
                <a:solidFill>
                  <a:srgbClr val="14161A"/>
                </a:solidFill>
                <a:latin typeface="DejaVu Sans Mono"/>
              </a:defRPr>
            </a:pPr>
            <a:r>
              <a:t>vllm-ditto/examples/cases/digest_scan.py:60</a:t>
            </a:r>
            <a:br/>
            <a:r>
              <a:t>with region("case_drop_key", digests=digests):</a:t>
            </a:r>
            <a:br/>
            <a:br/>
            <a:r>
              <a:t>case_drop_key   cost(digests) = 288.4*digests + 7,395.3        [all digests]   0.0% irregular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A5360"/>
                </a:solidFill>
                <a:latin typeface="DejaVu Sans Mono"/>
              </a:defRPr>
            </a:pPr>
            <a:r>
              <a:t>12 / 35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56032"/>
            <a:ext cx="1130198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61A"/>
                </a:solidFill>
                <a:latin typeface="Aptos Display"/>
              </a:defRPr>
            </a:pPr>
            <a:r>
              <a:t>vLLM A1. _prepare_inputs pays a fixed 465k tax per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859536"/>
            <a:ext cx="11301984" cy="2286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42415"/>
            <a:ext cx="54864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FIT — num_reqs, num_tokens; 20.9% unexplained.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SURPRISE — The fixed tax is ten times the request-dependent work at 64 requests; on CPU, copy_to_gpu dispatches copies from tensors onto themselves. vllm-cpu-src/vllm/v1/utils.py:139 — copy_to_gpu; gpu_model_runner.py:2037-2262 — the small tensor operations.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OPTIMISE — Measured: guard the aliasing CPU path and reuse numpy values; constant 464,927.7 → 205,310.3 (-56%), outputs identical.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51560"/>
            <a:ext cx="5532120" cy="5230368"/>
          </a:xfrm>
          <a:prstGeom prst="rect">
            <a:avLst/>
          </a:prstGeom>
          <a:solidFill>
            <a:srgbClr val="F2F4F7"/>
          </a:solidFill>
          <a:ln>
            <a:solidFill>
              <a:srgbClr val="D8DCE3"/>
            </a:solidFill>
          </a:ln>
        </p:spPr>
        <p:txBody>
          <a:bodyPr wrap="square" anchor="t">
            <a:spAutoFit/>
          </a:bodyPr>
          <a:lstStyle/>
          <a:p>
            <a:pPr algn="l">
              <a:defRPr sz="1300">
                <a:solidFill>
                  <a:srgbClr val="14161A"/>
                </a:solidFill>
                <a:latin typeface="DejaVu Sans Mono"/>
              </a:defRPr>
            </a:pPr>
            <a:r>
              <a:t>vllm-cpu-src/vllm/v1/worker/gpu_model_runner.py:2043</a:t>
            </a:r>
            <a:br/>
            <a:r>
              <a:t>with perfmark.region("prepare_inputs", num_reqs=len(scheduler_output.num_scheduled_tokens), num_tokens=scheduler_output.total_num_scheduled_tokens):</a:t>
            </a:r>
            <a:br/>
            <a:br/>
            <a:r>
              <a:t>prepare_inputs        cost(num_reqs, num_tokens) = 758.2*num_reqs + 106.9*num_tokens + 464,927.7                    20.9% irregular</a:t>
            </a:r>
            <a:br/>
            <a:br/>
            <a:r>
              <a:t>prepare_inputs   before  758.2*num_reqs + 106.9*num_tokens + 464,927.7     20.9% irregular</a:t>
            </a:r>
            <a:br/>
            <a:br/>
            <a:r>
              <a:t>                 after   721.3*num_reqs +  55.2*num_tokens + 205,310.3     26.0%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A5360"/>
                </a:solidFill>
                <a:latin typeface="DejaVu Sans Mono"/>
              </a:defRPr>
            </a:pPr>
            <a:r>
              <a:t>13 / 35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56032"/>
            <a:ext cx="1130198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4161A"/>
                </a:solidFill>
                <a:latin typeface="Aptos Display"/>
              </a:defRPr>
            </a:pPr>
            <a:r>
              <a:t>vLLM A2. CachedRequestData rebuilds unchanged state every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859536"/>
            <a:ext cx="11301984" cy="2286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42415"/>
            <a:ext cx="54864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FIT — num_running, num_resumed; 3.8% unexplained.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SURPRISE — A fresh tuple of lists, two generators and the entire CachedRequestData are rebuilt for every running request even when only one integer changed. vllm-cpu-rb/vllm/v1/core/sched/scheduler.py:1525; kv_cache_manager.py:77-92 — get_block_ids.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OPTIMISE — Measured: skip get_block_ids on the fifteen decode steps in sixteen with no new blocks and hoist loop invariants; 4,916.2 → 1,671 per request.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51560"/>
            <a:ext cx="5532120" cy="5230368"/>
          </a:xfrm>
          <a:prstGeom prst="rect">
            <a:avLst/>
          </a:prstGeom>
          <a:solidFill>
            <a:srgbClr val="F2F4F7"/>
          </a:solidFill>
          <a:ln>
            <a:solidFill>
              <a:srgbClr val="D8DCE3"/>
            </a:solidFill>
          </a:ln>
        </p:spPr>
        <p:txBody>
          <a:bodyPr wrap="square" anchor="t">
            <a:spAutoFit/>
          </a:bodyPr>
          <a:lstStyle/>
          <a:p>
            <a:pPr algn="l">
              <a:defRPr sz="1300">
                <a:solidFill>
                  <a:srgbClr val="14161A"/>
                </a:solidFill>
                <a:latin typeface="DejaVu Sans Mono"/>
              </a:defRPr>
            </a:pPr>
            <a:r>
              <a:t>vllm-cpu-rb/vllm/v1/core/sched/scheduler.py:1483</a:t>
            </a:r>
            <a:br/>
            <a:r>
              <a:t>with perfmark.region("cached_request_data", num_running=len(running_reqs), num_resumed=len(resumed_reqs)):</a:t>
            </a:r>
            <a:br/>
            <a:br/>
            <a:r>
              <a:t>cached_request_data   cost(num_running, num_resumed) = 4,907.1*num_running + 0*num_resumed + 13,107.9                  3.8%</a:t>
            </a:r>
            <a:br/>
            <a:br/>
            <a:r>
              <a:t>cached_request_data   4,916.2*num_running + 13,027.5    4.2%   -&gt;   1,671*num_running + 15,247.4    3.7%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A5360"/>
                </a:solidFill>
                <a:latin typeface="DejaVu Sans Mono"/>
              </a:defRPr>
            </a:pPr>
            <a:r>
              <a:t>14 / 35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56032"/>
            <a:ext cx="1130198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4161A"/>
                </a:solidFill>
                <a:latin typeface="Aptos Display"/>
              </a:defRPr>
            </a:pPr>
            <a:r>
              <a:t>vLLM B1. Admission scans every prompt twice, then decodes it again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859536"/>
            <a:ext cx="11301984" cy="2286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42415"/>
            <a:ext cx="54864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FIT — num_tokens; 4.3% unexplained.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SURPRISE — The token slope is Python max/min over IDs; engine_add_request then primes a detokenizer from the entire prompt. vllm-cpu-req/vllm/v1/engine/input_processor.py:485-486; detokenizer.py:184.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OPTIMISE — Measured: array("L") makes one C pass and a decoder-specific seven-token prime removes the second slope; outputs identical.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51560"/>
            <a:ext cx="5532120" cy="5230368"/>
          </a:xfrm>
          <a:prstGeom prst="rect">
            <a:avLst/>
          </a:prstGeom>
          <a:solidFill>
            <a:srgbClr val="F2F4F7"/>
          </a:solidFill>
          <a:ln>
            <a:solidFill>
              <a:srgbClr val="D8DCE3"/>
            </a:solidFill>
          </a:ln>
        </p:spPr>
        <p:txBody>
          <a:bodyPr wrap="square" anchor="t">
            <a:spAutoFit/>
          </a:bodyPr>
          <a:lstStyle/>
          <a:p>
            <a:pPr algn="l">
              <a:defRPr sz="1300">
                <a:solidFill>
                  <a:srgbClr val="14161A"/>
                </a:solidFill>
                <a:latin typeface="DejaVu Sans Mono"/>
              </a:defRPr>
            </a:pPr>
            <a:r>
              <a:t>vllm-cpu-req/vllm/v1/engine/input_processor.py:277</a:t>
            </a:r>
            <a:br/>
            <a:r>
              <a:t>with perfmark.region("process_inputs", num_tokens=(len(prompt.get("prompt_token_ids") or ()) if isinstance(prompt, dict) else (len(prompt) if isinstance(prompt, str) else 0))):</a:t>
            </a:r>
            <a:br/>
            <a:br/>
            <a:r>
              <a:t>process_inputs       cost(num_tokens)   = 315.6*num_tokens + 372,902.8       [num_tokens &gt;= 62]       4.3%</a:t>
            </a:r>
            <a:br/>
            <a:br/>
            <a:r>
              <a:t>process_inputs       315.6*num_tokens + 372,902.8   -&gt;   109.2*num_tokens + 386,776.3</a:t>
            </a:r>
            <a:br/>
            <a:br/>
            <a:r>
              <a:t>engine_add_request   544.8*num_tokens + 603,204.4   -&gt;   227.5*num_tokens + 618,328.6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A5360"/>
                </a:solidFill>
                <a:latin typeface="DejaVu Sans Mono"/>
              </a:defRPr>
            </a:pPr>
            <a:r>
              <a:t>15 / 35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56032"/>
            <a:ext cx="1130198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61A"/>
                </a:solidFill>
                <a:latin typeface="Aptos Display"/>
              </a:defRPr>
            </a:pPr>
            <a:r>
              <a:t>vLLM B2. Request.__init__ is a 128-token staircase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859536"/>
            <a:ext cx="11301984" cy="2286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42415"/>
            <a:ext cx="54864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FIT — num_prompt, num_blocks; 12.7% after adding num_blocks unexplained.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SURPRISE — The apparent 79-per-token slope is really 43,273 per 128-token block: eager block hashes plus a required prompt copy. vllm-cpu-req/vllm/v1/request.py:211 — update_block_hashes().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OPTIMISE — Measured: make block_hashes lazy. At 662 tokens Request.__init__ falls 254,024 → 29,128; the hash work moves into schedule and total work is unchanged.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51560"/>
            <a:ext cx="5532120" cy="5230368"/>
          </a:xfrm>
          <a:prstGeom prst="rect">
            <a:avLst/>
          </a:prstGeom>
          <a:solidFill>
            <a:srgbClr val="F2F4F7"/>
          </a:solidFill>
          <a:ln>
            <a:solidFill>
              <a:srgbClr val="D8DCE3"/>
            </a:solidFill>
          </a:ln>
        </p:spPr>
        <p:txBody>
          <a:bodyPr wrap="square" anchor="t">
            <a:spAutoFit/>
          </a:bodyPr>
          <a:lstStyle/>
          <a:p>
            <a:pPr algn="l">
              <a:defRPr sz="1300">
                <a:solidFill>
                  <a:srgbClr val="14161A"/>
                </a:solidFill>
                <a:latin typeface="DejaVu Sans Mono"/>
              </a:defRPr>
            </a:pPr>
            <a:r>
              <a:t>vllm-cpu-req/vllm/v1/request.py:121</a:t>
            </a:r>
            <a:br/>
            <a:r>
              <a:t>with perfmark.region("request_init", num_prompt=(len(prompt_token_ids) if prompt_token_ids is not None else 0), num_blocks=(len(prompt_token_ids) // getattr(block_hasher, "hash_block_size", 0) if prompt_token_ids and getattr(block_hasher, "hash_block_size", 0) else 0)):</a:t>
            </a:r>
            <a:br/>
            <a:br/>
            <a:r>
              <a:t>request_init   cost(num_prompt, num_blocks) = -4.0*num_prompt + 43,273.3*num_blocks + 25,363.4     57.7% -&gt; 12.7% irregular</a:t>
            </a:r>
            <a:br/>
            <a:br/>
            <a:r>
              <a:t>request_init         78.5*n + 23,998 (57.7%)     -&gt;   -2.5*n + 1,086*blocks + 18,829 (34.1%)     662 tokens: 254,024 -&gt; 29,128</a:t>
            </a:r>
            <a:br/>
            <a:br/>
            <a:r>
              <a:t>engine_add_request   227.5*n + 618,329 (13.6%)   -&gt;   136.8*n + 620,710 (7.0%)                   662 tokens: 1,011,290 -&gt; 760,785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A5360"/>
                </a:solidFill>
                <a:latin typeface="DejaVu Sans Mono"/>
              </a:defRPr>
            </a:pPr>
            <a:r>
              <a:t>16 / 35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56032"/>
            <a:ext cx="1130198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161A"/>
                </a:solidFill>
                <a:latin typeface="Aptos Display"/>
              </a:defRPr>
            </a:pPr>
            <a:r>
              <a:t>vLLM C. Input-batch churn bills arrivals per token and departures per row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859536"/>
            <a:ext cx="11301984" cy="2286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42415"/>
            <a:ext cx="54864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FIT — num_prompt, num_blocks; 2.8% unexplained.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SURPRISE — Admission converts a Python list element by element into int32; condense pays for roughly seventeen numpy dispatches per moved row, not bytes copied. vllm-cpu-batch/vllm/v1/worker/gpu_input_batch.py:376/382/387 and :765-786.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OPTIMISE — Measured: cached row memoryviews, scalar metadata memoisation, and batched moves only above the measured 2.7-row crossover.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51560"/>
            <a:ext cx="5532120" cy="5230368"/>
          </a:xfrm>
          <a:prstGeom prst="rect">
            <a:avLst/>
          </a:prstGeom>
          <a:solidFill>
            <a:srgbClr val="F2F4F7"/>
          </a:solidFill>
          <a:ln>
            <a:solidFill>
              <a:srgbClr val="D8DCE3"/>
            </a:solidFill>
          </a:ln>
        </p:spPr>
        <p:txBody>
          <a:bodyPr wrap="square" anchor="t">
            <a:spAutoFit/>
          </a:bodyPr>
          <a:lstStyle/>
          <a:p>
            <a:pPr algn="l">
              <a:defRPr sz="1300">
                <a:solidFill>
                  <a:srgbClr val="14161A"/>
                </a:solidFill>
                <a:latin typeface="DejaVu Sans Mono"/>
              </a:defRPr>
            </a:pPr>
            <a:r>
              <a:t>vllm-cpu-batch/vllm/v1/worker/gpu_input_batch.py:395</a:t>
            </a:r>
            <a:br/>
            <a:r>
              <a:t>with perfmark.region("add_request", num_prompt=(len(request.prompt_token_ids) if request.prompt_token_ids is not None else 0), num_blocks=sum(len(b) for b in request.block_ids)):</a:t>
            </a:r>
            <a:br/>
            <a:br/>
            <a:r>
              <a:t>add_request       cost(num_prompt, num_blocks) = 275.2*num_prompt + 0*num_blocks + 46,456.8                                      2.8%</a:t>
            </a:r>
            <a:br/>
            <a:br/>
            <a:r>
              <a:t>add_request        275.2*num_prompt + 46,457    -&gt;   202.9*num_prompt + 42,629       (long prompts: 332.7 -&gt; 269.6)</a:t>
            </a:r>
            <a:br/>
            <a:br/>
            <a:r>
              <a:t>refresh_metadata   at the steady replace (8 requests, 1 added): 83,361 -&gt; 44,595 per call   (-46.5%)</a:t>
            </a:r>
            <a:br/>
            <a:br/>
            <a:r>
              <a:t>condense           per moved row, bursts of &gt;= 3: 47,366 -&gt; 33,844   (-28.5%); single departures unchanged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A5360"/>
                </a:solidFill>
                <a:latin typeface="DejaVu Sans Mono"/>
              </a:defRPr>
            </a:pPr>
            <a:r>
              <a:t>17 / 35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56032"/>
            <a:ext cx="1130198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4161A"/>
                </a:solidFill>
                <a:latin typeface="Aptos Display"/>
              </a:defRPr>
            </a:pPr>
            <a:r>
              <a:t>vLLM D. Penalties rebuild the whole generated history every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859536"/>
            <a:ext cx="11301984" cy="2286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42415"/>
            <a:ext cx="54864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FIT — num_reqs, max_len, total_tokens; 5.1% unexplained.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SURPRISE — Every step re-encodes every token generated so far: 309.9 instructions per historical token, hence a quadratic generation cost. vllm-cpu-samp/vllm/v1/sample/ops/penalties.py:47 into torch_utils.py:731.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OPTIMISE — Measured: cache one int64 array per request and extend it; 309.9 → 3.0 per token, identical outputs, about 10G saved at 64×1,000.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51560"/>
            <a:ext cx="5532120" cy="5230368"/>
          </a:xfrm>
          <a:prstGeom prst="rect">
            <a:avLst/>
          </a:prstGeom>
          <a:solidFill>
            <a:srgbClr val="F2F4F7"/>
          </a:solidFill>
          <a:ln>
            <a:solidFill>
              <a:srgbClr val="D8DCE3"/>
            </a:solidFill>
          </a:ln>
        </p:spPr>
        <p:txBody>
          <a:bodyPr wrap="square" anchor="t">
            <a:spAutoFit/>
          </a:bodyPr>
          <a:lstStyle/>
          <a:p>
            <a:pPr algn="l">
              <a:defRPr sz="1300">
                <a:solidFill>
                  <a:srgbClr val="14161A"/>
                </a:solidFill>
                <a:latin typeface="DejaVu Sans Mono"/>
              </a:defRPr>
            </a:pPr>
            <a:r>
              <a:t>vllm-cpu-samp/vllm/v1/sample/ops/penalties.py:121</a:t>
            </a:r>
            <a:br/>
            <a:r>
              <a:t>with perfmark.region("pen_tensors", num_reqs=len(output_token_ids), max_len=max((len(o) for o in output_token_ids), default=0), total_tokens=sum(len(o) for o in output_token_ids)):</a:t>
            </a:r>
            <a:br/>
            <a:br/>
            <a:r>
              <a:t>pen_tensors       cost(num_reqs, max_len, total_tokens) = 3,299.1*num_reqs - 3*max_len + 309.9*total_tokens + 29,953.4      5.1%</a:t>
            </a:r>
            <a:br/>
            <a:br/>
            <a:r>
              <a:t>pen_tensors       before  3,299.1*num_reqs - 3*max_len + 309.9*total_tokens + 29,953.4     5.1% irregular</a:t>
            </a:r>
            <a:br/>
            <a:br/>
            <a:r>
              <a:t>                  after     376.8*num_reqs + 0*max_len +   3.0*total_tokens + 29,213.6    66.7%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A5360"/>
                </a:solidFill>
                <a:latin typeface="DejaVu Sans Mono"/>
              </a:defRPr>
            </a:pPr>
            <a:r>
              <a:t>18 / 35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56032"/>
            <a:ext cx="1130198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61A"/>
                </a:solidFill>
                <a:latin typeface="Aptos Display"/>
              </a:defRPr>
            </a:pPr>
            <a:r>
              <a:t>vLLM E. The output-path surprise was mostly its markers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859536"/>
            <a:ext cx="11301984" cy="2286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42415"/>
            <a:ext cx="54864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FIT — num_outputs, num_active; 26.2% with two markers; 52.9% with seven unexplained.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SURPRISE — Five nested Python markers contributed roughly 11k construction instructions each to the parent, creating a plausible but false per-request cost. /home/ubuntu/drperf/perfmark/python/perfmark.py:124-132; output_processor.py:293-296 already returns early.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OPTIMISE — Measured after removing the measurement artifact: skip the early-return call; true FINAL_ONLY cost 8,247.5 → 6,989.4 (-15.3%), 752/752 records identical.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51560"/>
            <a:ext cx="5532120" cy="5230368"/>
          </a:xfrm>
          <a:prstGeom prst="rect">
            <a:avLst/>
          </a:prstGeom>
          <a:solidFill>
            <a:srgbClr val="F2F4F7"/>
          </a:solidFill>
          <a:ln>
            <a:solidFill>
              <a:srgbClr val="D8DCE3"/>
            </a:solidFill>
          </a:ln>
        </p:spPr>
        <p:txBody>
          <a:bodyPr wrap="square" anchor="t">
            <a:spAutoFit/>
          </a:bodyPr>
          <a:lstStyle/>
          <a:p>
            <a:pPr algn="l">
              <a:defRPr sz="1300">
                <a:solidFill>
                  <a:srgbClr val="14161A"/>
                </a:solidFill>
                <a:latin typeface="DejaVu Sans Mono"/>
              </a:defRPr>
            </a:pPr>
            <a:r>
              <a:t>vllm-cpu-out/vllm/v1/engine/output_processor.py:627</a:t>
            </a:r>
            <a:br/>
            <a:r>
              <a:t>with perfmark.region("process_outputs", num_outputs=len(engine_core_outputs), num_active=len(self.request_states)):</a:t>
            </a:r>
            <a:br/>
            <a:br/>
            <a:r>
              <a:t>out/vllm_out_clean  (2 markers)   process_outputs = 30,153.5*num_outputs + 13,663.7*num_active + 2,952.9     26.2%</a:t>
            </a:r>
            <a:br/>
            <a:br/>
            <a:r>
              <a:t>8,247.5 to</a:t>
            </a:r>
            <a:br/>
            <a:br/>
            <a:r>
              <a:t>6,989.4 (-15.3%), about 80k per step at 64 requests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A5360"/>
                </a:solidFill>
                <a:latin typeface="DejaVu Sans Mono"/>
              </a:defRPr>
            </a:pPr>
            <a:r>
              <a:t>19 / 35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56032"/>
            <a:ext cx="1130198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4161A"/>
                </a:solidFill>
                <a:latin typeface="Aptos Display"/>
              </a:defRPr>
            </a:pPr>
            <a:r>
              <a:t>vLLM F. Prefix caching spends more on no-op calls than hashing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859536"/>
            <a:ext cx="11301984" cy="2286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42415"/>
            <a:ext cx="54864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FIT — num_new, num_cached; 7.1% unexplained.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SURPRISE — Fifteen calls in sixteen hash nothing; a separate per-step scan walks the shared prefix. The real block cost is pickle+SHA, not the three copies. vllm-cpu-kv/vllm/v1/core/kv_cache_utils.py:695 and hashing.py:39; single_type_kv_cache_manager.py:823-830.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OPTIMISE — Measured: remove no-op hasher calls (-993 each, -5.9% per block) and memoise the prefix scan, 22,800 → 6,767 at 40 blocks.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51560"/>
            <a:ext cx="5532120" cy="5230368"/>
          </a:xfrm>
          <a:prstGeom prst="rect">
            <a:avLst/>
          </a:prstGeom>
          <a:solidFill>
            <a:srgbClr val="F2F4F7"/>
          </a:solidFill>
          <a:ln>
            <a:solidFill>
              <a:srgbClr val="D8DCE3"/>
            </a:solidFill>
          </a:ln>
        </p:spPr>
        <p:txBody>
          <a:bodyPr wrap="square" anchor="t">
            <a:spAutoFit/>
          </a:bodyPr>
          <a:lstStyle/>
          <a:p>
            <a:pPr algn="l">
              <a:defRPr sz="1300">
                <a:solidFill>
                  <a:srgbClr val="14161A"/>
                </a:solidFill>
                <a:latin typeface="DejaVu Sans Mono"/>
              </a:defRPr>
            </a:pPr>
            <a:r>
              <a:t>vllm-cpu-kv/vllm/v1/core/block_pool.py:290</a:t>
            </a:r>
            <a:br/>
            <a:r>
              <a:t>with perfmark.region("kv_cache_full_blocks", num_new=num_full_blocks - num_cached_blocks, num_cached=num_cached_blocks):</a:t>
            </a:r>
            <a:br/>
            <a:br/>
            <a:r>
              <a:t>kv_cache_full_blocks    cost(num_new, num_cached) = 7,267.2*num_new + 0*num_cached + 4,521.4                          7.1% irregular</a:t>
            </a:r>
            <a:br/>
            <a:br/>
            <a:r>
              <a:t>kv_common_prefix_blocks   0*num_running + 0*num_blocks + 1,765.4    70.0%   -&gt;   0*num_running + 0*num_blocks + 2,934.3    8.8%</a:t>
            </a:r>
            <a:br/>
            <a:br/>
            <a:r>
              <a:t>kv_cache_full_blocks               7,266*num_new + 4,480        6,839.6*num_new + 4,765.2   (-5.9% per block)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A5360"/>
                </a:solidFill>
                <a:latin typeface="DejaVu Sans Mono"/>
              </a:defRPr>
            </a:pPr>
            <a:r>
              <a:t>20 / 35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56032"/>
            <a:ext cx="1130198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161A"/>
                </a:solidFill>
                <a:latin typeface="Aptos Display"/>
              </a:defRPr>
            </a:pPr>
            <a:r>
              <a:t>vLLM G. Scheduler pressure: waiting is free; re-evaluation and preemption are 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859536"/>
            <a:ext cx="11301984" cy="2286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42415"/>
            <a:ext cx="54864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FIT — running, preempted, num_new_tokens; 14.9% unexplained.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SURPRISE — The earlier waiting slope was aliasing: under max_num_seqs saturation it is exactly zero. Real costs are a ~200k head retry and five scans of running per victim. vllm-cpu-sched/vllm/v1/core/sched/scheduler.py:648-664 and :762-771.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OPTIMISE — Measured with identical admission order, victims and peek counts: head retries -56.5%; preemption slope 2,140.5 → 422.8.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51560"/>
            <a:ext cx="5532120" cy="5230368"/>
          </a:xfrm>
          <a:prstGeom prst="rect">
            <a:avLst/>
          </a:prstGeom>
          <a:solidFill>
            <a:srgbClr val="F2F4F7"/>
          </a:solidFill>
          <a:ln>
            <a:solidFill>
              <a:srgbClr val="D8DCE3"/>
            </a:solidFill>
          </a:ln>
        </p:spPr>
        <p:txBody>
          <a:bodyPr wrap="square" anchor="t">
            <a:spAutoFit/>
          </a:bodyPr>
          <a:lstStyle/>
          <a:p>
            <a:pPr algn="l">
              <a:defRPr sz="1300">
                <a:solidFill>
                  <a:srgbClr val="14161A"/>
                </a:solidFill>
                <a:latin typeface="DejaVu Sans Mono"/>
              </a:defRPr>
            </a:pPr>
            <a:r>
              <a:t>vllm-cpu-sched/vllm/v1/core/sched/scheduler.py:646</a:t>
            </a:r>
            <a:br/>
            <a:r>
              <a:t>with perfmark.region("sched_preempt", running=len(self.running), preempted=len(preempted_reqs), num_new_tokens=num_new_tokens):</a:t>
            </a:r>
            <a:br/>
            <a:br/>
            <a:r>
              <a:t>sched_preempt         cost(running, preempted, num_new_tokens) = 2,140.5*running + 0 + 0 + 94,086.3   14.9%</a:t>
            </a:r>
            <a:br/>
            <a:br/>
            <a:r>
              <a:t>sched_preempt       2,140.5*running + 94,086.3    14.9%   -&gt;   422.8*running + 98,683.2    9.9%</a:t>
            </a:r>
            <a:br/>
            <a:br/>
            <a:r>
              <a:t>sched_waiting_eval  triggers 168 -&gt; 59 (36 admissions + 23 forced by real frees); total 23,714,077 -&gt; 10,319,210 (-56.5%)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A5360"/>
                </a:solidFill>
                <a:latin typeface="DejaVu Sans Mono"/>
              </a:defRPr>
            </a:pPr>
            <a:r>
              <a:t>21 / 35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56032"/>
            <a:ext cx="1130198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61A"/>
                </a:solidFill>
                <a:latin typeface="Aptos Display"/>
              </a:defRPr>
            </a:pPr>
            <a:r>
              <a:t>vLLM H. N-gram speculation cannot pay on this CPU backend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859536"/>
            <a:ext cx="11301984" cy="2286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42415"/>
            <a:ext cx="54864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FIT — num_valid, ctx, k, tag; 6.6% unexplained.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SURPRISE — The proposer rescans the entire context; meanwhile execute_model saves at most 3.2% per scored token and rejection sampling costs 61% more per output token. vllm-cpu-spec/vllm/v1/spec_decode/ngram_proposer.py:263-296 — reversed-context KMP scan.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OPTIMISE — Measured: K=3 and K=5 are a throughput wash; a first-occurrence index makes the context slope 22.9 → 0.9 and set membership removes gather's n² term.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51560"/>
            <a:ext cx="5532120" cy="5230368"/>
          </a:xfrm>
          <a:prstGeom prst="rect">
            <a:avLst/>
          </a:prstGeom>
          <a:solidFill>
            <a:srgbClr val="F2F4F7"/>
          </a:solidFill>
          <a:ln>
            <a:solidFill>
              <a:srgbClr val="D8DCE3"/>
            </a:solidFill>
          </a:ln>
        </p:spPr>
        <p:txBody>
          <a:bodyPr wrap="square" anchor="t">
            <a:spAutoFit/>
          </a:bodyPr>
          <a:lstStyle/>
          <a:p>
            <a:pPr algn="l">
              <a:defRPr sz="1300">
                <a:solidFill>
                  <a:srgbClr val="14161A"/>
                </a:solidFill>
                <a:latin typeface="DejaVu Sans Mono"/>
              </a:defRPr>
            </a:pPr>
            <a:r>
              <a:t>vllm-cpu-spec/vllm/v1/spec_decode/ngram_proposer.py:130</a:t>
            </a:r>
            <a:br/>
            <a:r>
              <a:t>with perfmark.region("ngram_scan", num_valid=num_ngram_requests,</a:t>
            </a:r>
            <a:br/>
            <a:br/>
            <a:r>
              <a:t>ngram_scan         cost(num_valid, ctx, k, tag) = 9,926.9*num_valid + 18*ctx + 0*k + 24,536.1        6.6% irregular</a:t>
            </a:r>
            <a:br/>
            <a:br/>
            <a:r>
              <a:t>ngram_scan   before  9,856*num_valid + 22.9*ctx + 32,441   (1.4%)</a:t>
            </a:r>
            <a:br/>
            <a:br/>
            <a:r>
              <a:t>             after   11,909*num_valid + 0.9*ctx + 34,705   (3.3%), plus a build of ~300 per token indexed, once per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A5360"/>
                </a:solidFill>
                <a:latin typeface="DejaVu Sans Mono"/>
              </a:defRPr>
            </a:pPr>
            <a:r>
              <a:t>22 / 35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56032"/>
            <a:ext cx="1130198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61A"/>
                </a:solidFill>
                <a:latin typeface="Aptos Display"/>
              </a:defRPr>
            </a:pPr>
            <a:r>
              <a:t>vLLM H2. One logprobs request bills every row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859536"/>
            <a:ext cx="11301984" cy="2286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42415"/>
            <a:ext cx="54864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FIT — num_reqs, num_logprobs, tag; 57.2% unexplained.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SURPRISE — Stop strings are flat at 4,196.8 instructions and min_tokens is free when unused; the real surprise is top-k over all rows when only one asks. vllm-cpu-spec/vllm/v1/sample/sampler.py:337 — torch.topk(logprobs, ..., dim=-1). Marker shown is the exact stop-set injection spec.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OPTIMISE — Measured: top-k only the asking rows; other-thread work -29.1% with byte-identical top-5 dictionaries, but wall time is unchanged at eight threads.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51560"/>
            <a:ext cx="5532120" cy="5230368"/>
          </a:xfrm>
          <a:prstGeom prst="rect">
            <a:avLst/>
          </a:prstGeom>
          <a:solidFill>
            <a:srgbClr val="F2F4F7"/>
          </a:solidFill>
          <a:ln>
            <a:solidFill>
              <a:srgbClr val="D8DCE3"/>
            </a:solidFill>
          </a:ln>
        </p:spPr>
        <p:txBody>
          <a:bodyPr wrap="square" anchor="t">
            <a:spAutoFit/>
          </a:bodyPr>
          <a:lstStyle/>
          <a:p>
            <a:pPr algn="l">
              <a:defRPr sz="1300">
                <a:solidFill>
                  <a:srgbClr val="14161A"/>
                </a:solidFill>
                <a:latin typeface="DejaVu Sans Mono"/>
              </a:defRPr>
            </a:pPr>
            <a:r>
              <a:t>mark_spec.py:49</a:t>
            </a:r>
            <a:br/>
            <a:r>
              <a:t>("vllm/v1/sample/sampler.py", "Sampler", "gather_logprobs", "gather_logprobs",</a:t>
            </a:r>
            <a:br/>
            <a:br/>
            <a:r>
              <a:t>gather_logprobs   cost(num_reqs, num_logprobs, tag) = 1,009,495.2*num_reqs + 115,043.4           57.2%</a:t>
            </a:r>
            <a:br/>
            <a:br/>
            <a:r>
              <a:t>steady-state row       total/call     64,131,276             59,409,231     -7.4%</a:t>
            </a:r>
            <a:br/>
            <a:br/>
            <a:r>
              <a:t>  of which other-thr   16,205,197                            11,489,509    -29.1%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A5360"/>
                </a:solidFill>
                <a:latin typeface="DejaVu Sans Mono"/>
              </a:defRPr>
            </a:pPr>
            <a:r>
              <a:t>23 / 35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56032"/>
            <a:ext cx="1130198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61A"/>
                </a:solidFill>
                <a:latin typeface="Aptos Display"/>
              </a:defRPr>
            </a:pPr>
            <a:r>
              <a:t>Wan 2.1. Fixed host work repeats every denoising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859536"/>
            <a:ext cx="11301984" cy="2286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42415"/>
            <a:ext cx="54864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FIT — frames, height, width; 35.2% unexplained.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SURPRISE — The rotary table is rebuilt every forward; the fixed prompt is re-projected every step and CFG branch; VAE output concatenation copies quadratically in frames. videogen/wan-fit/diffusers/models/transformers/transformer_wan.py:395/668; pipeline_wan.py:347; autoencoder_kl_wan.py:1197-1205.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OPTIMISE — Measured with byte-identical latents/video: rotary 482,987 → 58,612 (-87.9%), cond_embed -27.7%, and list-then-cat is 10× faster at production width.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51560"/>
            <a:ext cx="5532120" cy="5230368"/>
          </a:xfrm>
          <a:prstGeom prst="rect">
            <a:avLst/>
          </a:prstGeom>
          <a:solidFill>
            <a:srgbClr val="F2F4F7"/>
          </a:solidFill>
          <a:ln>
            <a:solidFill>
              <a:srgbClr val="D8DCE3"/>
            </a:solidFill>
          </a:ln>
        </p:spPr>
        <p:txBody>
          <a:bodyPr wrap="square" anchor="t">
            <a:spAutoFit/>
          </a:bodyPr>
          <a:lstStyle/>
          <a:p>
            <a:pPr algn="l">
              <a:defRPr sz="1300">
                <a:solidFill>
                  <a:srgbClr val="14161A"/>
                </a:solidFill>
                <a:latin typeface="DejaVu Sans Mono"/>
              </a:defRPr>
            </a:pPr>
            <a:r>
              <a:t>videogen/wan-fit/diffusers/models/transformers/transformer_wan.py:399</a:t>
            </a:r>
            <a:br/>
            <a:r>
              <a:t>with perfmark.region("rope", frames=hidden_states.shape[2], height=hidden_states.shape[3], width=hidden_states.shape[4]):</a:t>
            </a:r>
            <a:br/>
            <a:br/>
            <a:r>
              <a:t>rope                = 29.9*frames + 0*height + 0*width + 312,303.4                                             35.2%</a:t>
            </a:r>
            <a:br/>
            <a:br/>
            <a:r>
              <a:t>             mean per call 482,987 -&gt; 58,612 (-87.9%); first call 782k, every cached call 13,679</a:t>
            </a:r>
            <a:br/>
            <a:br/>
            <a:r>
              <a:t>             mean per call 780,728 -&gt; 564,337 (-27.7%); the residue is the timestep embedding, which does change per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A5360"/>
                </a:solidFill>
                <a:latin typeface="DejaVu Sans Mono"/>
              </a:defRPr>
            </a:pPr>
            <a:r>
              <a:t>24 / 35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56032"/>
            <a:ext cx="1130198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4161A"/>
                </a:solidFill>
                <a:latin typeface="Aptos Display"/>
              </a:defRPr>
            </a:pPr>
            <a:r>
              <a:t>Wan B. Unmarked paths: rotary apply, callbacks and the VAE posterior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859536"/>
            <a:ext cx="11301984" cy="2286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42415"/>
            <a:ext cx="54864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FIT — seq_len, heads, batch; 0.4% unexplained.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SURPRISE — Rotary application spends 45 instructions per rotated element in iterator overhead; callbacks call locals() per name; the VAE computes exp for posterior values mode() never reads. videogen/wan-more/diffusers/models/transformers/transformer_wan.py:104-118; pipeline_wan.py:640; vae.py:693-694.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OPTIMISE — Measured, outputs identical: posterior slope 40× lower, callback per-name 33× lower, rotary instructions -1.5% but wall -25%; blend loops deliberately unchanged.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51560"/>
            <a:ext cx="5532120" cy="5230368"/>
          </a:xfrm>
          <a:prstGeom prst="rect">
            <a:avLst/>
          </a:prstGeom>
          <a:solidFill>
            <a:srgbClr val="F2F4F7"/>
          </a:solidFill>
          <a:ln>
            <a:solidFill>
              <a:srgbClr val="D8DCE3"/>
            </a:solidFill>
          </a:ln>
        </p:spPr>
        <p:txBody>
          <a:bodyPr wrap="square" anchor="t">
            <a:spAutoFit/>
          </a:bodyPr>
          <a:lstStyle/>
          <a:p>
            <a:pPr algn="l">
              <a:defRPr sz="1300">
                <a:solidFill>
                  <a:srgbClr val="14161A"/>
                </a:solidFill>
                <a:latin typeface="DejaVu Sans Mono"/>
              </a:defRPr>
            </a:pPr>
            <a:r>
              <a:t>videogen/wan-more/diffusers/models/transformers/transformer_wan.py:138</a:t>
            </a:r>
            <a:br/>
            <a:r>
              <a:t>with perfmark.region("attn_rope", tag=902, seq_len=hidden_states.shape[1], heads=attn.heads, batch=hidden_states.shape[0]):</a:t>
            </a:r>
            <a:br/>
            <a:br/>
            <a:r>
              <a:t>attn_rope      = 5,764.3*seq_len + 0*heads + 0*batch + 320,506.1        0.4% irregular</a:t>
            </a:r>
            <a:br/>
            <a:br/>
            <a:r>
              <a:t>dgd_init        14.2*numel + 114,569.1      2.7%   -&gt;   0.349*numel + 70,030      1.8%     (40x on the slope; 9.31 -&gt; 0.10 ms per production encode)</a:t>
            </a:r>
            <a:br/>
            <a:br/>
            <a:r>
              <a:t>callback_step   14,019.5*ninputs + 10,872.6 5.4%   -&gt;   425*ninputs + 26,940      0.0%     (33x per name)</a:t>
            </a:r>
            <a:br/>
            <a:br/>
            <a:r>
              <a:t>attn_rope       5,764.3*seq_len + 320,506   0.4%   -&gt;   5,675.3*seq_len + 323,964 0.4%     (-1.5% instructions; 210.9 -&gt; 157.7 ms per q or k at production, -25% wall)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A5360"/>
                </a:solidFill>
                <a:latin typeface="DejaVu Sans Mono"/>
              </a:defRPr>
            </a:pPr>
            <a:r>
              <a:t>25 / 35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56032"/>
            <a:ext cx="1130198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4161A"/>
                </a:solidFill>
                <a:latin typeface="Aptos Display"/>
              </a:defRPr>
            </a:pPr>
            <a:r>
              <a:t>Wan C. Cross-attention re-projects the same prompt 3,000 times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859536"/>
            <a:ext cx="11301984" cy="2286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42415"/>
            <a:ext cx="54864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FIT — batch, seq_len, heads, kv_len; 79.5% in the parent before 55 temporary probes unexplained.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SURPRISE — The per-layer constant contains ax_qkv at 378,712, including 130,563 sgemm instructions: fixed prompt K/V projected 30 layers × 100 forwards instead of 60 times. videogen/wan-tax/diffusers/models/transformers/transformer_wan.py:45 — attn.to_k / attn.to_v on encoder_hidden_states.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OPTIMISE — Measured with identical latents/video: memoise K/V by tensor identity and version; ax_qkv -63.6%, host tax -9.8% and 14.2 TFLOP removed per production video.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51560"/>
            <a:ext cx="5532120" cy="5230368"/>
          </a:xfrm>
          <a:prstGeom prst="rect">
            <a:avLst/>
          </a:prstGeom>
          <a:solidFill>
            <a:srgbClr val="F2F4F7"/>
          </a:solidFill>
          <a:ln>
            <a:solidFill>
              <a:srgbClr val="D8DCE3"/>
            </a:solidFill>
          </a:ln>
        </p:spPr>
        <p:txBody>
          <a:bodyPr wrap="square" anchor="t">
            <a:spAutoFit/>
          </a:bodyPr>
          <a:lstStyle/>
          <a:p>
            <a:pPr algn="l">
              <a:defRPr sz="1300">
                <a:solidFill>
                  <a:srgbClr val="14161A"/>
                </a:solidFill>
                <a:latin typeface="DejaVu Sans Mono"/>
              </a:defRPr>
            </a:pPr>
            <a:r>
              <a:t>videogen/wan-tax/diffusers/models/transformers/transformer_wan.py:120</a:t>
            </a:r>
            <a:br/>
            <a:r>
              <a:t>with perfmark.region("attn", batch=hidden_states.shape[0], seq_len=hidden_states.shape[1], heads=attn.heads, kv_len=(hidden_states.shape[1] if encoder_hidden_states is None else encoder_hidden_states.shape[1])):</a:t>
            </a:r>
            <a:br/>
            <a:br/>
            <a:r>
              <a:t>block               = 0*batch + 12,424.7*seq_len + 0*text_len + 2,172,643.1                                    79.5%</a:t>
            </a:r>
            <a:br/>
            <a:br/>
            <a:r>
              <a:t>ax_qkv (cross-attn K/V)   378,712 -&gt; 137,932   (-63.6%)</a:t>
            </a:r>
            <a:br/>
            <a:br/>
            <a:r>
              <a:t>wan_call             ... + 10,750,513.4*steps + 27,537,440   -&gt;   ... + 9,502,853.1*steps + 27,488,895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A5360"/>
                </a:solidFill>
                <a:latin typeface="DejaVu Sans Mono"/>
              </a:defRPr>
            </a:pPr>
            <a:r>
              <a:t>26 / 35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56032"/>
            <a:ext cx="1130198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61A"/>
                </a:solidFill>
                <a:latin typeface="Aptos Display"/>
              </a:defRPr>
            </a:pPr>
            <a:r>
              <a:t>Wan D. The text encoder pays for padding, quadratically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859536"/>
            <a:ext cx="11301984" cy="2286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42415"/>
            <a:ext cx="54864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FIT — rtok, ptok, sq, lsq; 17.7% unexplained.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SURPRISE — The real prompt coefficient is -1.2: effectively free. Work follows padded tokens, padded pairs and an L² relative-position bias rebuilt per layer. videogen/wan-t5/diffusers/pipelines/wan/pipeline_wan.py:199; hf/transformers/src/transformers/models/umt5/modeling_umt5.py:347 — position-bias construction.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OPTIMISE — Measured: encode at the longest real length rounded to eight (floor 16), then zero-pad the embeddings; 384.8M → 8.07M at eight real tokens, bit-identical.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51560"/>
            <a:ext cx="5532120" cy="5230368"/>
          </a:xfrm>
          <a:prstGeom prst="rect">
            <a:avLst/>
          </a:prstGeom>
          <a:solidFill>
            <a:srgbClr val="F2F4F7"/>
          </a:solidFill>
          <a:ln>
            <a:solidFill>
              <a:srgbClr val="D8DCE3"/>
            </a:solidFill>
          </a:ln>
        </p:spPr>
        <p:txBody>
          <a:bodyPr wrap="square" anchor="t">
            <a:spAutoFit/>
          </a:bodyPr>
          <a:lstStyle/>
          <a:p>
            <a:pPr algn="l">
              <a:defRPr sz="1300">
                <a:solidFill>
                  <a:srgbClr val="14161A"/>
                </a:solidFill>
                <a:latin typeface="DejaVu Sans Mono"/>
              </a:defRPr>
            </a:pPr>
            <a:r>
              <a:t>videogen/wan-t5/diffusers/pipelines/wan/pipeline_wan.py:199</a:t>
            </a:r>
            <a:br/>
            <a:r>
              <a:t>with perfmark.region("t5_enc", tag=926, ptok=_b * max_sequence_length, sq=_b * max_sequence_length * max_sequence_length // 64, lsq=max_sequence_length * max_sequence_length // 64):</a:t>
            </a:r>
            <a:br/>
            <a:br/>
            <a:r>
              <a:t>t5_enc      24,980*ptok + 46,060.5*sq + 27,714.6*lsq + 6,807,980                      17.7%             (with lsq)</a:t>
            </a:r>
            <a:br/>
            <a:br/>
            <a:r>
              <a:t>t5_embeds   25,688.3*ptok + 46,070.5*sq + 27,692*lsq + 6,565,689   -&gt;   693.5*ptok + 34.8*sq - 27.7*lsq + 6,694,193</a:t>
            </a:r>
            <a:br/>
            <a:br/>
            <a:r>
              <a:t>per call, batch 1, max_len 512:  8 real tokens 384.8M -&gt; 8.07M (47.7x); 32 -&gt; 8.46M (45.5x); 128 -&gt; 17.3M (22.2x); 480 -&gt; 124.5M (3.1x)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A5360"/>
                </a:solidFill>
                <a:latin typeface="DejaVu Sans Mono"/>
              </a:defRPr>
            </a:pPr>
            <a:r>
              <a:t>27 / 35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56032"/>
            <a:ext cx="1130198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61A"/>
                </a:solidFill>
                <a:latin typeface="Aptos Display"/>
              </a:defRPr>
            </a:pPr>
            <a:r>
              <a:t>Fit pass: regions taken from above 20% to under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859536"/>
            <a:ext cx="11301984" cy="2286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42415"/>
            <a:ext cx="54864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4161A"/>
                </a:solidFill>
                <a:latin typeface="Aptos"/>
              </a:defRPr>
            </a:pPr>
            <a:r>
              <a:t>Wan tiled_encode_r: 100.0% → 0.1% with tiles, area_frames; stride-aligned grid, frames=1</a:t>
            </a:r>
          </a:p>
          <a:p>
            <a:pPr>
              <a:spcAft>
                <a:spcPts val="300"/>
              </a:spcAft>
              <a:defRPr sz="1000">
                <a:solidFill>
                  <a:srgbClr val="14161A"/>
                </a:solidFill>
                <a:latin typeface="Aptos"/>
              </a:defRPr>
            </a:pPr>
            <a:r>
              <a:t>Wan tiled_decode_r: 100.0% → 0.4% with tiles, area_frames</a:t>
            </a:r>
          </a:p>
          <a:p>
            <a:pPr>
              <a:spcAft>
                <a:spcPts val="300"/>
              </a:spcAft>
              <a:defRPr sz="1000">
                <a:solidFill>
                  <a:srgbClr val="14161A"/>
                </a:solidFill>
                <a:latin typeface="Aptos"/>
              </a:defRPr>
            </a:pPr>
            <a:r>
              <a:t>Wan pp_denorm: 96.0% → 0.0% with pixels_k</a:t>
            </a:r>
          </a:p>
          <a:p>
            <a:pPr>
              <a:spcAft>
                <a:spcPts val="300"/>
              </a:spcAft>
              <a:defRPr sz="1000">
                <a:solidFill>
                  <a:srgbClr val="14161A"/>
                </a:solidFill>
                <a:latin typeface="Aptos"/>
              </a:defRPr>
            </a:pPr>
            <a:r>
              <a:t>Wan prompt_clean_r: 93.7% → 3.8% with chars, nonascii</a:t>
            </a:r>
          </a:p>
          <a:p>
            <a:pPr>
              <a:spcAft>
                <a:spcPts val="300"/>
              </a:spcAft>
              <a:defRPr sz="1000">
                <a:solidFill>
                  <a:srgbClr val="14161A"/>
                </a:solidFill>
                <a:latin typeface="Aptos"/>
              </a:defRPr>
            </a:pPr>
            <a:r>
              <a:t>Wan postprocess_frames: 90.7% → 0.1% with pixels_k</a:t>
            </a:r>
          </a:p>
          <a:p>
            <a:pPr>
              <a:spcAft>
                <a:spcPts val="300"/>
              </a:spcAft>
              <a:defRPr sz="1000">
                <a:solidFill>
                  <a:srgbClr val="14161A"/>
                </a:solidFill>
                <a:latin typeface="Aptos"/>
              </a:defRPr>
            </a:pPr>
            <a:r>
              <a:t>vLLM detok_update: 53.0% → 0.0% with is_first, have_k</a:t>
            </a:r>
          </a:p>
          <a:p>
            <a:pPr>
              <a:spcAft>
                <a:spcPts val="300"/>
              </a:spcAft>
              <a:defRPr sz="1000">
                <a:solidFill>
                  <a:srgbClr val="14161A"/>
                </a:solidFill>
                <a:latin typeface="Aptos"/>
              </a:defRPr>
            </a:pPr>
            <a:r>
              <a:t>Wan attn_rope: 40.9% → 0.0% with sh=seq_len*heads, head_dim</a:t>
            </a:r>
          </a:p>
          <a:p>
            <a:pPr>
              <a:spcAft>
                <a:spcPts val="300"/>
              </a:spcAft>
              <a:defRPr sz="1000">
                <a:solidFill>
                  <a:srgbClr val="14161A"/>
                </a:solidFill>
                <a:latin typeface="Aptos"/>
              </a:defRPr>
            </a:pPr>
            <a:r>
              <a:t>vLLM kv_allocate_slots: 49.0 / 21.3% → 18.2 / 1.4% with new_blocks, is_prefill</a:t>
            </a:r>
          </a:p>
          <a:p>
            <a:pPr>
              <a:spcAft>
                <a:spcPts val="300"/>
              </a:spcAft>
              <a:defRPr sz="1000">
                <a:solidFill>
                  <a:srgbClr val="14161A"/>
                </a:solidFill>
                <a:latin typeface="Aptos"/>
              </a:defRPr>
            </a:pPr>
            <a:r>
              <a:t>Wan postprocess_video: 88.0% → 16.2% with pixels_k</a:t>
            </a:r>
          </a:p>
          <a:p>
            <a:pPr>
              <a:spcAft>
                <a:spcPts val="300"/>
              </a:spcAft>
              <a:defRPr sz="1000">
                <a:solidFill>
                  <a:srgbClr val="14161A"/>
                </a:solidFill>
                <a:latin typeface="Aptos"/>
              </a:defRPr>
            </a:pPr>
            <a:r>
              <a:t>Wan vae_decode_chunk / frame_loop: 99.3 / 99.4% → 4.3 / 4.3% with first, area_k, area_frames_k</a:t>
            </a:r>
          </a:p>
          <a:p>
            <a:pPr>
              <a:spcAft>
                <a:spcPts val="300"/>
              </a:spcAft>
              <a:defRPr sz="1000">
                <a:solidFill>
                  <a:srgbClr val="14161A"/>
                </a:solidFill>
                <a:latin typeface="Aptos"/>
              </a:defRPr>
            </a:pPr>
            <a:r>
              <a:t>Wan vae_decode_frames / stage: 99.7 / 99.7% → 7.4 / 7.4% with chunks, area_k, area_frames_k</a:t>
            </a:r>
          </a:p>
          <a:p>
            <a:pPr>
              <a:spcAft>
                <a:spcPts val="300"/>
              </a:spcAft>
              <a:defRPr sz="1000">
                <a:solidFill>
                  <a:srgbClr val="14161A"/>
                </a:solidFill>
                <a:latin typeface="Aptos"/>
              </a:defRPr>
            </a:pPr>
            <a:r>
              <a:t>Wan vae_encode / encode_chunk: 99.2 / 97.2% → 2.1 / 2.0% with first, area_k, area_frames_k</a:t>
            </a:r>
          </a:p>
          <a:p>
            <a:pPr>
              <a:spcAft>
                <a:spcPts val="300"/>
              </a:spcAft>
              <a:defRPr sz="1000">
                <a:solidFill>
                  <a:srgbClr val="14161A"/>
                </a:solidFill>
                <a:latin typeface="Aptos"/>
              </a:defRPr>
            </a:pPr>
            <a:r>
              <a:t>Wan wan_call: 98.7% → 11.5% with steps, sseq, ssq_k, pix_k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51560"/>
            <a:ext cx="5532120" cy="5230368"/>
          </a:xfrm>
          <a:prstGeom prst="rect">
            <a:avLst/>
          </a:prstGeom>
          <a:solidFill>
            <a:srgbClr val="F2F4F7"/>
          </a:solidFill>
          <a:ln>
            <a:solidFill>
              <a:srgbClr val="D8DCE3"/>
            </a:solidFill>
          </a:ln>
        </p:spPr>
        <p:txBody>
          <a:bodyPr wrap="square" anchor="t">
            <a:spAutoFit/>
          </a:bodyPr>
          <a:lstStyle/>
          <a:p>
            <a:pPr algn="l">
              <a:defRPr sz="1300">
                <a:solidFill>
                  <a:srgbClr val="14161A"/>
                </a:solidFill>
                <a:latin typeface="DejaVu Sans Mono"/>
              </a:defRPr>
            </a:pPr>
            <a:r>
              <a:t>before unexplained %  -&gt;  after unexplained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A5360"/>
                </a:solidFill>
                <a:latin typeface="DejaVu Sans Mono"/>
              </a:defRPr>
            </a:pPr>
            <a:r>
              <a:t>28 / 35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56032"/>
            <a:ext cx="1130198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61A"/>
                </a:solidFill>
                <a:latin typeface="Aptos Display"/>
              </a:defRPr>
            </a:pPr>
            <a:r>
              <a:t>Fit pass: what would not become one affine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859536"/>
            <a:ext cx="11301984" cy="2286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42415"/>
            <a:ext cx="54864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schedule: five code paths: No single plane fits admission, saturation, chunking, preemption and steady decode. Trace fit reaches R² 0.993, but the actionable sub-regions fit at 1.2-16.5%.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pp_stack: alternating memcpy blocks: Two __memcpy_avx_unaligned_erms blocks take turns with numpy placement. Each is irregular; their sum is affine to 0.03%.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cpu_flash_attention: three template instantiations: &lt;32,512&gt;, &lt;64,512&gt; and &lt;256,512&gt; are selected by seq_len thresholds. Restricting to one band takes attn_sdpa to 15.2%.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Four-state limit: KEY_STATES=4 forces trade-offs: process_outputs needs two sizes, first-token and output-kind; wan_call had to drop chunks.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51560"/>
            <a:ext cx="5532120" cy="5230368"/>
          </a:xfrm>
          <a:prstGeom prst="rect">
            <a:avLst/>
          </a:prstGeom>
          <a:solidFill>
            <a:srgbClr val="F2F4F7"/>
          </a:solidFill>
          <a:ln>
            <a:solidFill>
              <a:srgbClr val="D8DCE3"/>
            </a:solidFill>
          </a:ln>
        </p:spPr>
        <p:txBody>
          <a:bodyPr wrap="square" anchor="t">
            <a:spAutoFit/>
          </a:bodyPr>
          <a:lstStyle/>
          <a:p>
            <a:pPr algn="l">
              <a:defRPr sz="1300">
                <a:solidFill>
                  <a:srgbClr val="14161A"/>
                </a:solidFill>
                <a:latin typeface="DejaVu Sans Mono"/>
              </a:defRPr>
            </a:pPr>
            <a:r>
              <a:t>&lt;32,512&gt;  &lt;64,512&gt;  &lt;256,512&gt;  |  KEY_STATES=4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A5360"/>
                </a:solidFill>
                <a:latin typeface="DejaVu Sans Mono"/>
              </a:defRPr>
            </a:pPr>
            <a:r>
              <a:t>29 / 35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56032"/>
            <a:ext cx="1130198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61A"/>
                </a:solidFill>
                <a:latin typeface="Aptos Display"/>
              </a:defRPr>
            </a:pPr>
            <a:r>
              <a:t>Driver rules: fix the experiment before the declaration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859536"/>
            <a:ext cx="11301984" cy="2286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42415"/>
            <a:ext cx="54864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Repeat every state point: Singleton points have no stable mean; allocator jitter becomes unexplained work.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Use exact sizes, not buckets: A bucket spans real sizes and turns within-point spread into variation.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Keep one code path per region: Fixture creation and the measured operation cannot share one plane.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Drop confounded states: A state moving with batch size may explain the driver rather than the code.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Declare computed states: square=n*n exposed case 6; products are valid when the code really scales with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51560"/>
            <a:ext cx="5532120" cy="5230368"/>
          </a:xfrm>
          <a:prstGeom prst="rect">
            <a:avLst/>
          </a:prstGeom>
          <a:solidFill>
            <a:srgbClr val="F2F4F7"/>
          </a:solidFill>
          <a:ln>
            <a:solidFill>
              <a:srgbClr val="D8DCE3"/>
            </a:solidFill>
          </a:ln>
        </p:spPr>
        <p:txBody>
          <a:bodyPr wrap="square" anchor="t">
            <a:spAutoFit/>
          </a:bodyPr>
          <a:lstStyle/>
          <a:p>
            <a:pPr algn="l">
              <a:defRPr sz="1300">
                <a:solidFill>
                  <a:srgbClr val="14161A"/>
                </a:solidFill>
                <a:latin typeface="DejaVu Sans Mono"/>
              </a:defRPr>
            </a:pPr>
            <a:r>
              <a:t>cost(requests) = 2,237.6*requests + 3,877.5  |  19.5% unexplained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A5360"/>
                </a:solidFill>
                <a:latin typeface="DejaVu Sans Mono"/>
              </a:defRPr>
            </a:pPr>
            <a:r>
              <a:t>30 / 35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56032"/>
            <a:ext cx="1130198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61A"/>
                </a:solidFill>
                <a:latin typeface="Aptos Display"/>
              </a:defRPr>
            </a:pPr>
            <a:r>
              <a:t>Tool caveats: six ways a plausible formula can mislead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859536"/>
            <a:ext cx="11301984" cy="2286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42415"/>
            <a:ext cx="54864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4161A"/>
                </a:solidFill>
                <a:latin typeface="Aptos"/>
              </a:defRPr>
            </a:pPr>
            <a:r>
              <a:t>Nested regions average away outer-state dependence: Nested means are keyed by the inner region's states. Declare the outer state inside, or measure the inner work separately.</a:t>
            </a:r>
          </a:p>
          <a:p>
            <a:pPr>
              <a:spcAft>
                <a:spcPts val="300"/>
              </a:spcAft>
              <a:defRPr sz="1000">
                <a:solidFill>
                  <a:srgbClr val="14161A"/>
                </a:solidFill>
                <a:latin typeface="Aptos"/>
              </a:defRPr>
            </a:pPr>
            <a:r>
              <a:t>About 11k marker-construction instructions land in the parent: A four-state Python region spends ~3.8 µs in _split_state; calibration removes only the 582 instructions inside the child.</a:t>
            </a:r>
          </a:p>
          <a:p>
            <a:pPr>
              <a:spcAft>
                <a:spcPts val="300"/>
              </a:spcAft>
              <a:defRPr sz="1000">
                <a:solidFill>
                  <a:srgbClr val="14161A"/>
                </a:solidFill>
                <a:latin typeface="Aptos"/>
              </a:defRPr>
            </a:pPr>
            <a:r>
              <a:t>Slot-table overflow silently misattributes: vLLM's ~556k blocks overflow the 131,072-slot default and collapse into the last slot. Use --max-slots and reject warned runs.</a:t>
            </a:r>
          </a:p>
          <a:p>
            <a:pPr>
              <a:spcAft>
                <a:spcPts val="300"/>
              </a:spcAft>
              <a:defRPr sz="1000">
                <a:solidFill>
                  <a:srgbClr val="14161A"/>
                </a:solidFill>
                <a:latin typeface="Aptos"/>
              </a:defRPr>
            </a:pPr>
            <a:r>
              <a:t>The key cache compares state names by pointer: Identical state signatures can merge regions. Give signatures unique values until client/drperf.c compares string contents.</a:t>
            </a:r>
          </a:p>
          <a:p>
            <a:pPr>
              <a:spcAft>
                <a:spcPts val="300"/>
              </a:spcAft>
              <a:defRPr sz="1000">
                <a:solidFill>
                  <a:srgbClr val="14161A"/>
                </a:solidFill>
                <a:latin typeface="Aptos"/>
              </a:defRPr>
            </a:pPr>
            <a:r>
              <a:t>derive drops small states beside a huge computed basis: A sq column around 6.4e12 makes steps look dependent. Scale products, for example sq_k = seq_len*kv_len // 1024.</a:t>
            </a:r>
          </a:p>
          <a:p>
            <a:pPr>
              <a:spcAft>
                <a:spcPts val="300"/>
              </a:spcAft>
              <a:defRPr sz="1000">
                <a:solidFill>
                  <a:srgbClr val="14161A"/>
                </a:solidFill>
                <a:latin typeface="Aptos"/>
              </a:defRPr>
            </a:pPr>
            <a:r>
              <a:t>Late attach can land inside a JIT: NgramProposer construction triggered a 6.06B-instruction numba compile. Disable markers through construction and warm-up.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51560"/>
            <a:ext cx="5532120" cy="5230368"/>
          </a:xfrm>
          <a:prstGeom prst="rect">
            <a:avLst/>
          </a:prstGeom>
          <a:solidFill>
            <a:srgbClr val="F2F4F7"/>
          </a:solidFill>
          <a:ln>
            <a:solidFill>
              <a:srgbClr val="D8DCE3"/>
            </a:solidFill>
          </a:ln>
        </p:spPr>
        <p:txBody>
          <a:bodyPr wrap="square" anchor="t">
            <a:spAutoFit/>
          </a:bodyPr>
          <a:lstStyle/>
          <a:p>
            <a:pPr algn="l">
              <a:defRPr sz="1300">
                <a:solidFill>
                  <a:srgbClr val="14161A"/>
                </a:solidFill>
                <a:latin typeface="DejaVu Sans Mono"/>
              </a:defRPr>
            </a:pPr>
            <a:r>
              <a:t>--max-slots 2097152  |  sq_k = seq_len*kv_len // 1024  |  KEY_STATES=4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A5360"/>
                </a:solidFill>
                <a:latin typeface="DejaVu Sans Mono"/>
              </a:defRPr>
            </a:pPr>
            <a:r>
              <a:t>31 / 35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56032"/>
            <a:ext cx="1130198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61A"/>
                </a:solidFill>
                <a:latin typeface="Aptos Display"/>
              </a:defRPr>
            </a:pPr>
            <a:r>
              <a:t>The cases as slides: fit, surprise, optimise (1/4)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859536"/>
            <a:ext cx="11301984" cy="2286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42415"/>
            <a:ext cx="54864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FTL 2, lookup clones | `lookup = 44.9*fill - 221`, 0% irregular; callers at 4x, 4x, 1x of it | 45 instructions per resident io-block per lookup, for a key or two booleans; three call sites | measured: every `fill` coefficient exactly 0 after a no-clone `locate()`, identical results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FTL 3, bind_batch old vs new | old `1,899*req + 330*blocks + 947*superblocks`; new needs an exact-size driver to reach 19.5% | the old core scales with the whole directory; the new one still spends ~44% of a bind on string-keyed B-tree search | measured: hash-keyed map, 377k to 304k per bind, the size dependence gone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FTL 6, `_ordered_blocks` | `2,050*n + 417*n^2 + 4,943`, 16% | the `blocks` getter clones the map per offset: a quadratic for a tuple | predicted from the one-getter region: `n^2` coefficient 0, 497k to 54k per call at 32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FTL 7, `ensure_row` | `35.1*full_slabs + 381*new_slab + 2,397` | every row walks every exhausted slab; grows with pool fill | predicted: keep non-full slabs only, coefficient 0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FTL 8, `_clear_digests` | `288.4*digests + 7,395`, 0% | the whole digest table copied per retired block, ~35M per retired superblock | predicted: key-to-identities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51560"/>
            <a:ext cx="5532120" cy="5230368"/>
          </a:xfrm>
          <a:prstGeom prst="rect">
            <a:avLst/>
          </a:prstGeom>
          <a:solidFill>
            <a:srgbClr val="F2F4F7"/>
          </a:solidFill>
          <a:ln>
            <a:solidFill>
              <a:srgbClr val="D8DCE3"/>
            </a:solidFill>
          </a:ln>
        </p:spPr>
        <p:txBody>
          <a:bodyPr wrap="square" anchor="t">
            <a:spAutoFit/>
          </a:bodyPr>
          <a:lstStyle/>
          <a:p>
            <a:pPr algn="l">
              <a:defRPr sz="1300">
                <a:solidFill>
                  <a:srgbClr val="14161A"/>
                </a:solidFill>
                <a:latin typeface="DejaVu Sans Mono"/>
              </a:defRPr>
            </a:pPr>
            <a:r>
              <a:t>`lookup = 44.9*fill - 221`, 0% irregular; callers at 4x, 4x, 1x of it</a:t>
            </a:r>
            <a:br/>
            <a:br/>
            <a:r>
              <a:t>old `1,899*req + 330*blocks + 947*superblocks`; new needs an exact-size driver to reach 19.5%</a:t>
            </a:r>
            <a:br/>
            <a:br/>
            <a:r>
              <a:t>`2,050*n + 417*n^2 + 4,943`, 16%</a:t>
            </a:r>
            <a:br/>
            <a:br/>
            <a:r>
              <a:t>`35.1*full_slabs + 381*new_slab + 2,397`</a:t>
            </a:r>
            <a:br/>
            <a:br/>
            <a:r>
              <a:t>`288.4*digests + 7,395`, 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A5360"/>
                </a:solidFill>
                <a:latin typeface="DejaVu Sans Mono"/>
              </a:defRPr>
            </a:pPr>
            <a:r>
              <a:t>32 / 35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56032"/>
            <a:ext cx="1130198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61A"/>
                </a:solidFill>
                <a:latin typeface="Aptos Display"/>
              </a:defRPr>
            </a:pPr>
            <a:r>
              <a:t>The cases as slides: fit, surprise, optimise (2/4)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859536"/>
            <a:ext cx="11301984" cy="2286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42415"/>
            <a:ext cx="54864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FTL 1, admission scan | `23.3*superblocks + 3,331`, 2%, plus the relation `superblocks = count(commits) - cum(frees)` | no surprise: 6k per step; the listed fix is not worth making | not needed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FTL 4, `count()` | `1,897*entries + 1,060` | the whole stats dict round-trips per bump, ~58k per call | predicted: counters in Rust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vLLM A, scheduler side | `prepare_inputs = 758*reqs + 107*tokens + 464,928`; `cached_request_data = 4,907*running + 13,108`, 4% | a 580k fixed tax per step against 758 per request; a per-step rebuild of unchanged state | measured: constant 465k to 205k (-56%), `copy_to_gpu` was copying tensors onto themselves on this backend; rebuild 4,916 to 1,671 per running request (-63% at 64)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vLLM B, admission | `process_inputs = 315.6*tokens + 372,903`, 4% | the per-token slope is `max`/`min` over the ids; 373k fixed per request is a `deepcopy`; the tokenizer is not cached; `Request.__init__` has a 128-token staircase | measured: 315.6 to 109.2 per token (`process_inputs`), 544.8 to 227.5 (`engine_add_request`); staircase re-declared to 43,273 per block, hashes made lazy: 692k per 2k prompt moved off admission, not removed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vLLM C, input batch churn | `add_request = 275*prompt_tokens + 46k`, 3%; `condense = 12,163*empty + ...` | admission converts the prompt element by element; a departure costs per row moved, not per token | measured: 275 to 203 per token after testing ten candidates (most worse than status quo), metadata rebuild -46%, condense -28% per row only in bursts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51560"/>
            <a:ext cx="5532120" cy="5230368"/>
          </a:xfrm>
          <a:prstGeom prst="rect">
            <a:avLst/>
          </a:prstGeom>
          <a:solidFill>
            <a:srgbClr val="F2F4F7"/>
          </a:solidFill>
          <a:ln>
            <a:solidFill>
              <a:srgbClr val="D8DCE3"/>
            </a:solidFill>
          </a:ln>
        </p:spPr>
        <p:txBody>
          <a:bodyPr wrap="square" anchor="t">
            <a:spAutoFit/>
          </a:bodyPr>
          <a:lstStyle/>
          <a:p>
            <a:pPr algn="l">
              <a:defRPr sz="1300">
                <a:solidFill>
                  <a:srgbClr val="14161A"/>
                </a:solidFill>
                <a:latin typeface="DejaVu Sans Mono"/>
              </a:defRPr>
            </a:pPr>
            <a:r>
              <a:t>`23.3*superblocks + 3,331`, 2%, plus the relation `superblocks = count(commits) - cum(frees)`</a:t>
            </a:r>
            <a:br/>
            <a:br/>
            <a:r>
              <a:t>`1,897*entries + 1,060`</a:t>
            </a:r>
            <a:br/>
            <a:br/>
            <a:r>
              <a:t>`prepare_inputs = 758*reqs + 107*tokens + 464,928`; `cached_request_data = 4,907*running + 13,108`, 4%</a:t>
            </a:r>
            <a:br/>
            <a:br/>
            <a:r>
              <a:t>`process_inputs = 315.6*tokens + 372,903`, 4%</a:t>
            </a:r>
            <a:br/>
            <a:br/>
            <a:r>
              <a:t>`add_request = 275*prompt_tokens + 46k`, 3%; `condense = 12,163*empty + ...`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A5360"/>
                </a:solidFill>
                <a:latin typeface="DejaVu Sans Mono"/>
              </a:defRPr>
            </a:pPr>
            <a:r>
              <a:t>33 / 35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56032"/>
            <a:ext cx="1130198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61A"/>
                </a:solidFill>
                <a:latin typeface="Aptos Display"/>
              </a:defRPr>
            </a:pPr>
            <a:r>
              <a:t>The cases as slides: fit, surprise, optimise (3/4)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859536"/>
            <a:ext cx="11301984" cy="2286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42415"/>
            <a:ext cx="54864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vLLM D, penalties | `pen_tensors = 310*total_tokens + ...`, 5%; relation `max_len = step index` | every step re-encodes every token generated so far: a quadratic | measured: 309.9 to 3.0 per token, outputs byte-identical, ~10 G saved at 64 x 1,000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vLLM E, output path | first read `82,643*num_outputs + 12,843*num_active` with 7 nested markers; 2 markers: `30,154*num_outputs + 13,664*num_active`; marker-free 8,248 per request per step | the surprise was the markers: ~11k construction each, five per request per step; the objects were never built per step | measured: skipping the early-return call, 8,248 to 6,989 (-15%); lazy text join measured and rejected, as the formula predicted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Wan 2.1 (diffusers), host side | `rope = 29.9*frames + 312,303`; `cond_embed = 3,855*batch + 617,350`; `sched_step` 0.1% | rotary table rebuilt on every forward though it depends only on shape; prompt re-projected every step and CFG branch; VAE per-frame cat | measured: rope 482,987 -&gt; 58,612 per call (-88%), cond_embed -28%, cat 10x at production width; latents and video byte-identical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Wan B, rotary apply, callbacks, posterior, tiling | `attn_rope = 5,764*seq_len + 320,506`, 0.4%; `dgd_init = 14.2*numel + 114,569`, 2.7%; `callback_step = 14,020*ninputs + 10,873` | rotary application is 45 instructions per element of pure iterator overhead; `locals()` per callback name; `exp` over the latent for a value never read; blend loops 114k per row | measured: posterior 40x, callback 33x, rotary -1.5% instructions but -25% wall; blend loops left alone because the formula says the vectorised form loses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vLLM G, scheduler under pressure | `sched_preempt = 2,140.5*running + 94,086`, 14.9%; `schedule` waiting coefficient exactly 0 under `max_num_seqs` saturation | the earlier 55k-60k "per waiting request" was aliasing; the real costs are a ~200k re-evaluation of the head request every step while KV is full, and five linear scans of `running` per preemption | measured: head memo removes 109 of 132 wasted evaluations (-56.5% on the region), preemption slope 2,140.5 -&gt; 422.8 per running request; admission order, victims and peek counts byte-identical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51560"/>
            <a:ext cx="5532120" cy="5230368"/>
          </a:xfrm>
          <a:prstGeom prst="rect">
            <a:avLst/>
          </a:prstGeom>
          <a:solidFill>
            <a:srgbClr val="F2F4F7"/>
          </a:solidFill>
          <a:ln>
            <a:solidFill>
              <a:srgbClr val="D8DCE3"/>
            </a:solidFill>
          </a:ln>
        </p:spPr>
        <p:txBody>
          <a:bodyPr wrap="square" anchor="t">
            <a:spAutoFit/>
          </a:bodyPr>
          <a:lstStyle/>
          <a:p>
            <a:pPr algn="l">
              <a:defRPr sz="1300">
                <a:solidFill>
                  <a:srgbClr val="14161A"/>
                </a:solidFill>
                <a:latin typeface="DejaVu Sans Mono"/>
              </a:defRPr>
            </a:pPr>
            <a:r>
              <a:t>`pen_tensors = 310*total_tokens + ...`, 5%; relation `max_len = step index`</a:t>
            </a:r>
            <a:br/>
            <a:br/>
            <a:r>
              <a:t>first read `82,643*num_outputs + 12,843*num_active` with 7 nested markers; 2 markers: `30,154*num_outputs + 13,664*num_active`; marker-free 8,248 per request per step</a:t>
            </a:r>
            <a:br/>
            <a:br/>
            <a:r>
              <a:t>`rope = 29.9*frames + 312,303`; `cond_embed = 3,855*batch + 617,350`; `sched_step` 0.1%</a:t>
            </a:r>
            <a:br/>
            <a:br/>
            <a:r>
              <a:t>`attn_rope = 5,764*seq_len + 320,506`, 0.4%; `dgd_init = 14.2*numel + 114,569`, 2.7%; `callback_step = 14,020*ninputs + 10,873`</a:t>
            </a:r>
            <a:br/>
            <a:br/>
            <a:r>
              <a:t>`sched_preempt = 2,140.5*running + 94,086`, 14.9%; `schedule` waiting coefficient exactly 0 under `max_num_seqs` saturation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A5360"/>
                </a:solidFill>
                <a:latin typeface="DejaVu Sans Mono"/>
              </a:defRPr>
            </a:pPr>
            <a:r>
              <a:t>34 / 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56032"/>
            <a:ext cx="1130198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61A"/>
                </a:solidFill>
                <a:latin typeface="Aptos Display"/>
              </a:defRPr>
            </a:pPr>
            <a:r>
              <a:t>The cases as slides: fit, surprise, optimise (4/4)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859536"/>
            <a:ext cx="11301984" cy="2286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42415"/>
            <a:ext cx="54864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Wan C, per-step constant decomposed | 55 probes split `denoise_step`'s 12M constant into sub-steps; `ax_qkv` 378,712 per layer with `sgemm` 130k in a constant | cross-attention re-projects the fixed prompt in every block of every forward, 3,000x per video instead of 60x; timestep, modulation, fp32 upcast, `Dropout(p=0)` all redone per branch | measured: `ax_qkv` -64%, host tax -9.8% per video, 14.2 TFLOP per video of GPU work removed; latents identical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vLLM H, n-gram speculation | `ngram_scan = 9,822*num_valid + 22.9*ctx + 33,258`, max residual 1.1%; `execute_model` per scored token flat at 176-182M | the KMP scan walks the whole context every step though only the last `max_ngram` tokens matter; rejection sampling costs 61% more per token than sampling while the forward gives back 3.2% at most | measured: K=3 and K=5 are a wash (70.5 / 73.2 / 73.2 tok/s), as the two coefficients predicted; the scan replaced by a first-occurrence index, 22.9 to 0.9 per context token, 2.13M to 0.88M per step at 64 x 1,000, drafts byte-identical, break-even after 16 steps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vLLM H2, stop strings and logprobs | `check_stop` 4,196.8 flat, 0.0%; `gather_logprobs = 1,009,495*num_reqs + 115,043` | stop strings are free (the suspected quadratic is not there); one request's `logprobs=5` bills every row of the batch | measured: top-k only on asking rows, other-thread part -29.1%, outputs byte-identical, wall unmoved at 8 threads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Wan D, text encoder padding | `t5_enc = -1.2*rtok + 24,402*ptok + 20,723*sq + ...`; with `lsq` 17.7% | the prompt is free and the padding is paid quadratically; 16x the encoder work at production, and an L² position bias rebuilt per layer | measured: encode at the real length, 47.7x per call at 8 tokens, bit-identical embeddings, latents and video; shortening the cross-attention keys rejected, the model attends to its padding</a:t>
            </a:r>
          </a:p>
          <a:p>
            <a:pPr>
              <a:spcAft>
                <a:spcPts val="800"/>
              </a:spcAft>
              <a:defRPr sz="1500">
                <a:solidFill>
                  <a:srgbClr val="14161A"/>
                </a:solidFill>
                <a:latin typeface="Aptos"/>
              </a:defRPr>
            </a:pPr>
            <a:r>
              <a:t>vLLM F, prefix caching | `kv_cache_full_blocks = 7,267*num_new + 4,521`, 7%; relation `kv_tokens = admitted + generated - freed` | a block hash is three copies and two CPython hashes; the no-op per-token hasher call costs more than the hashing | measured: no-op calls gone (-993 each), -5.9% per block; the block's cost is pickle+sha, not copies; prefix rescan memoised, 70% to 8.8% and 22.8k to 6.8k per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51560"/>
            <a:ext cx="5532120" cy="5230368"/>
          </a:xfrm>
          <a:prstGeom prst="rect">
            <a:avLst/>
          </a:prstGeom>
          <a:solidFill>
            <a:srgbClr val="F2F4F7"/>
          </a:solidFill>
          <a:ln>
            <a:solidFill>
              <a:srgbClr val="D8DCE3"/>
            </a:solidFill>
          </a:ln>
        </p:spPr>
        <p:txBody>
          <a:bodyPr wrap="square" anchor="t">
            <a:spAutoFit/>
          </a:bodyPr>
          <a:lstStyle/>
          <a:p>
            <a:pPr algn="l">
              <a:defRPr sz="1300">
                <a:solidFill>
                  <a:srgbClr val="14161A"/>
                </a:solidFill>
                <a:latin typeface="DejaVu Sans Mono"/>
              </a:defRPr>
            </a:pPr>
            <a:r>
              <a:t>55 probes split `denoise_step`'s 12M constant into sub-steps; `ax_qkv` 378,712 per layer with `sgemm` 130k in a constant</a:t>
            </a:r>
            <a:br/>
            <a:br/>
            <a:r>
              <a:t>`ngram_scan = 9,822*num_valid + 22.9*ctx + 33,258`, max residual 1.1%; `execute_model` per scored token flat at 176-182M</a:t>
            </a:r>
            <a:br/>
            <a:br/>
            <a:r>
              <a:t>`check_stop` 4,196.8 flat, 0.0%; `gather_logprobs = 1,009,495*num_reqs + 115,043`</a:t>
            </a:r>
            <a:br/>
            <a:br/>
            <a:r>
              <a:t>`t5_enc = -1.2*rtok + 24,402*ptok + 20,723*sq + ...`; with `lsq` 17.7%</a:t>
            </a:r>
            <a:br/>
            <a:br/>
            <a:r>
              <a:t>`kv_cache_full_blocks = 7,267*num_new + 4,521`, 7%; relation `kv_tokens = admitted + generated - freed`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A5360"/>
                </a:solidFill>
                <a:latin typeface="DejaVu Sans Mono"/>
              </a:defRPr>
            </a:pPr>
            <a:r>
              <a:t>35 / 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